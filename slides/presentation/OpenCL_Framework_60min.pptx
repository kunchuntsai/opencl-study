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" name="Shape 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1: Title (1 min)</a:t>
            </a:r>
          </a:p>
          <a:p>
            <a:pPr/>
          </a:p>
          <a:p>
            <a:pPr/>
            <a:r>
              <a:t>Welcome everyone. Today I'm going to show you a framework that will fundamentally change how you develop OpenCL image processing algorithms.</a:t>
            </a:r>
          </a:p>
          <a:p>
            <a:pPr/>
          </a:p>
          <a:p>
            <a:pPr/>
            <a:r>
              <a:t>The tagline says it all: "Easy Kernel Development, Zero Host Code."</a:t>
            </a:r>
          </a:p>
          <a:p>
            <a:pPr/>
          </a:p>
          <a:p>
            <a:pPr/>
            <a:r>
              <a:t>By the end of this hour, you'll understand how to go from writing your first kernel to deploying on Android — without writing a single line of host code.</a:t>
            </a:r>
          </a:p>
          <a:p>
            <a:pPr/>
          </a:p>
          <a:p>
            <a:pPr/>
            <a:r>
              <a:t>TIP: Start with energy. Make eye contact. Let the title sink in before moving 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4" name="Shape 5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2: Agenda - Part I (30 sec)</a:t>
            </a:r>
          </a:p>
          <a:p>
            <a:pPr/>
          </a:p>
          <a:p>
            <a:pPr/>
            <a:r>
              <a:t>We'll cover this in two parts. Let me walk you through our agenda.</a:t>
            </a:r>
          </a:p>
          <a:p>
            <a:pPr/>
          </a:p>
          <a:p>
            <a:pPr/>
            <a:r>
              <a:t>Part I focuses on OCLExample Introduction — what this framework is, why you need it, and how to use it.</a:t>
            </a:r>
          </a:p>
          <a:p>
            <a:pPr/>
          </a:p>
          <a:p>
            <a:pPr/>
            <a:r>
              <a:t>Part II goes deeper into the two-phase architecture for production deployment.</a:t>
            </a:r>
          </a:p>
          <a:p>
            <a:pPr/>
          </a:p>
          <a:p>
            <a:pPr/>
            <a:r>
              <a:t>We're starting with Introduction and Features.</a:t>
            </a:r>
          </a:p>
          <a:p>
            <a:pPr/>
          </a:p>
          <a:p>
            <a:pPr/>
            <a:r>
              <a:t>TIP: Point to the highlighted item. Give a quick overview of the journey.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0" name="Shape 7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3: Section Overview - Introduction / Features (1 min)</a:t>
            </a:r>
          </a:p>
          <a:p>
            <a:pPr/>
          </a:p>
          <a:p>
            <a:pPr/>
            <a:r>
              <a:t>In this section, we'll cover:</a:t>
            </a:r>
          </a:p>
          <a:p>
            <a:pPr/>
          </a:p>
          <a:p>
            <a:pPr/>
            <a:r>
              <a:t>• The PROBLEM — why traditional OpenCL development is painful</a:t>
            </a:r>
          </a:p>
          <a:p>
            <a:pPr/>
            <a:r>
              <a:t>• The SOLUTION — how this framework eliminates boilerplate</a:t>
            </a:r>
          </a:p>
          <a:p>
            <a:pPr/>
            <a:r>
              <a:t>• SIX KEY BENEFITS you get from using it</a:t>
            </a:r>
          </a:p>
          <a:p>
            <a:pPr/>
            <a:r>
              <a:t>• USER JOURNEY — the Build, Run, Learn cycle</a:t>
            </a:r>
          </a:p>
          <a:p>
            <a:pPr/>
            <a:r>
              <a:t>• ARCHITECTURE — how your code interacts with the framework</a:t>
            </a:r>
          </a:p>
          <a:p>
            <a:pPr/>
          </a:p>
          <a:p>
            <a:pPr/>
            <a:r>
              <a:t>Let's start with the problem.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0" name="Shape 9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4: The Problem We Solve (3 min)</a:t>
            </a:r>
          </a:p>
          <a:p>
            <a:pPr/>
          </a:p>
          <a:p>
            <a:pPr/>
            <a:r>
              <a:t>Let me start with a question: How many of you have written OpenCL host code before?</a:t>
            </a:r>
          </a:p>
          <a:p>
            <a:pPr/>
            <a:r>
              <a:t>[Pause for hands]</a:t>
            </a:r>
          </a:p>
          <a:p>
            <a:pPr/>
          </a:p>
          <a:p>
            <a:pPr/>
            <a:r>
              <a:t>Then you know the pain. Every time you want to test a new kernel, you need to write 500 lines of boilerplate.</a:t>
            </a:r>
          </a:p>
          <a:p>
            <a:pPr/>
          </a:p>
          <a:p>
            <a:pPr/>
            <a:r>
              <a:t>[Read each pain point, let audience nod in recognition]</a:t>
            </a:r>
          </a:p>
          <a:p>
            <a:pPr/>
          </a:p>
          <a:p>
            <a:pPr/>
            <a:r>
              <a:t>This framework eliminates ALL of that boilerplate. You focus on your kernel — we handle the rest.</a:t>
            </a:r>
          </a:p>
          <a:p>
            <a:pPr/>
          </a:p>
          <a:p>
            <a:pPr/>
            <a:r>
              <a:t>TIP: Build the frustration before revealing the solution.</a:t>
            </a:r>
          </a:p>
          <a:p>
            <a:pPr/>
          </a:p>
          <a:p>
            <a:pPr/>
            <a:r>
              <a:t>TRANSITION: "So what does the solution look like?"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9" name="Shape 11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5: Framework Benefits (3 min)</a:t>
            </a:r>
          </a:p>
          <a:p>
            <a:pPr/>
          </a:p>
          <a:p>
            <a:pPr/>
            <a:r>
              <a:t>Here are the six key benefits:</a:t>
            </a:r>
          </a:p>
          <a:p>
            <a:pPr/>
          </a:p>
          <a:p>
            <a:pPr/>
            <a:r>
              <a:t>ZERO HOST CODE — Your configuration lives in JSON. No C/C++ host code to write.</a:t>
            </a:r>
          </a:p>
          <a:p>
            <a:pPr/>
          </a:p>
          <a:p>
            <a:pPr/>
            <a:r>
              <a:t>INSTANT COMPARISON — Compare v0 against v1 of your kernel instantly.</a:t>
            </a:r>
          </a:p>
          <a:p>
            <a:pPr/>
          </a:p>
          <a:p>
            <a:pPr/>
            <a:r>
              <a:t>PLATFORM SWITCHING — Switch between standard OpenCL and vendor extensions with one config line.</a:t>
            </a:r>
          </a:p>
          <a:p>
            <a:pPr/>
          </a:p>
          <a:p>
            <a:pPr/>
            <a:r>
              <a:t>AUTO-VERIFICATION — Every GPU output is compared against CPU reference automatically.</a:t>
            </a:r>
          </a:p>
          <a:p>
            <a:pPr/>
          </a:p>
          <a:p>
            <a:pPr/>
            <a:r>
              <a:t>BINARY CACHING — After first run, compiled kernel is cached. Subsequent runs skip compilation.</a:t>
            </a:r>
          </a:p>
          <a:p>
            <a:pPr/>
          </a:p>
          <a:p>
            <a:pPr/>
            <a:r>
              <a:t>EASY EXTENSION — Adding a new algorithm? We have a scaffold for you.</a:t>
            </a:r>
          </a:p>
          <a:p>
            <a:pPr/>
          </a:p>
          <a:p>
            <a:pPr/>
            <a:r>
              <a:t>TIP: Touch each card as you explain. Let benefits build momentum.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5" name="Shape 1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6: User Journey (3 min)</a:t>
            </a:r>
          </a:p>
          <a:p>
            <a:pPr/>
          </a:p>
          <a:p>
            <a:pPr/>
            <a:r>
              <a:t>The typical user journey has three phases: Build, Run, and Learn.</a:t>
            </a:r>
          </a:p>
          <a:p>
            <a:pPr/>
          </a:p>
          <a:p>
            <a:pPr/>
            <a:r>
              <a:t>BUILD: Write your kernel in OpenCL C. Create a JSON config. That's it — no host code.</a:t>
            </a:r>
          </a:p>
          <a:p>
            <a:pPr/>
          </a:p>
          <a:p>
            <a:pPr/>
            <a:r>
              <a:t>RUN: Execute using our command-line tool. It compiles, sets up OpenCL, runs, and produces output.</a:t>
            </a:r>
          </a:p>
          <a:p>
            <a:pPr/>
          </a:p>
          <a:p>
            <a:pPr/>
            <a:r>
              <a:t>LEARN: Get detailed profiling data. Compare against CPU reference. Iterate.</a:t>
            </a:r>
          </a:p>
          <a:p>
            <a:pPr/>
          </a:p>
          <a:p>
            <a:pPr/>
            <a:r>
              <a:t>This cycle is how you go from concept to optimized production kernel.</a:t>
            </a:r>
          </a:p>
          <a:p>
            <a:pPr/>
          </a:p>
          <a:p>
            <a:pPr/>
            <a:r>
              <a:t>TIP: Trace the flow with your hand. Emphasize simplicity.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1" name="Shape 13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7: High-Level Architecture (3 min)</a:t>
            </a:r>
          </a:p>
          <a:p>
            <a:pPr/>
          </a:p>
          <a:p>
            <a:pPr/>
            <a:r>
              <a:t>On the left is YOUR code — just the kernel and JSON config.</a:t>
            </a:r>
          </a:p>
          <a:p>
            <a:pPr/>
          </a:p>
          <a:p>
            <a:pPr/>
            <a:r>
              <a:t>On the right is the FRAMEWORK — it handles everything else.</a:t>
            </a:r>
          </a:p>
          <a:p>
            <a:pPr/>
          </a:p>
          <a:p>
            <a:pPr/>
            <a:r>
              <a:t>Notice the clear separation: you stay in "user space" with your algorithm logic. The framework handles all the "plumbing".</a:t>
            </a:r>
          </a:p>
          <a:p>
            <a:pPr/>
          </a:p>
          <a:p>
            <a:pPr/>
            <a:r>
              <a:t>TIP: Use two-hand gestures — left for "your code", right for "framework".</a:t>
            </a:r>
          </a:p>
          <a:p>
            <a:pPr/>
          </a:p>
          <a:p>
            <a:pPr/>
            <a:r>
              <a:t>TRANSITION: "Now let's look at what happens inside the framework."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5" name="Shape 14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9: Section Overview - General OpenCL Host Flow (30 sec)</a:t>
            </a:r>
          </a:p>
          <a:p>
            <a:pPr/>
          </a:p>
          <a:p>
            <a:pPr/>
            <a:r>
              <a:t>In this section, we'll look at:</a:t>
            </a:r>
          </a:p>
          <a:p>
            <a:pPr/>
          </a:p>
          <a:p>
            <a:pPr/>
            <a:r>
              <a:t>• The 6 STEPS every OpenCL program must perform</a:t>
            </a:r>
          </a:p>
          <a:p>
            <a:pPr/>
            <a:r>
              <a:t>• What the FRAMEWORK HANDLES for you</a:t>
            </a:r>
          </a:p>
          <a:p>
            <a:pPr/>
            <a:r>
              <a:t>• The ~100MS COMPILATION overhead — important for later</a:t>
            </a:r>
          </a:p>
          <a:p>
            <a:pPr/>
            <a:r>
              <a:t>• Why this MATTERS for your development speed</a:t>
            </a:r>
          </a:p>
          <a:p>
            <a:pPr/>
          </a:p>
          <a:p>
            <a:pPr/>
            <a:r>
              <a:t>Let's walk through the flow.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1" name="Shape 15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10: Standard OpenCL Host Flow (4 min)</a:t>
            </a:r>
          </a:p>
          <a:p>
            <a:pPr/>
          </a:p>
          <a:p>
            <a:pPr/>
            <a:r>
              <a:t>This is the standard OpenCL host flow — 6 steps every OpenCL program must perform.</a:t>
            </a:r>
          </a:p>
          <a:p>
            <a:pPr/>
          </a:p>
          <a:p>
            <a:pPr/>
            <a:r>
              <a:t>STEP 1: Platform &amp; Device — Find available GPUs.</a:t>
            </a:r>
          </a:p>
          <a:p>
            <a:pPr/>
            <a:r>
              <a:t>STEP 2: Context &amp; Queue — Create execution context.</a:t>
            </a:r>
          </a:p>
          <a:p>
            <a:pPr/>
            <a:r>
              <a:t>STEP 3: Build Program — Compile kernel. Notice: ~100ms. Significant cost.</a:t>
            </a:r>
          </a:p>
          <a:p>
            <a:pPr/>
            <a:r>
              <a:t>STEP 4: Create Kernel — Extract runnable kernel.</a:t>
            </a:r>
          </a:p>
          <a:p>
            <a:pPr/>
            <a:r>
              <a:t>STEP 5: Setup Args &amp; Buffers — Allocate GPU memory, set arguments.</a:t>
            </a:r>
          </a:p>
          <a:p>
            <a:pPr/>
            <a:r>
              <a:t>STEP 6: Execute &amp; Read — Run kernel, read results.</a:t>
            </a:r>
          </a:p>
          <a:p>
            <a:pPr/>
          </a:p>
          <a:p>
            <a:pPr/>
            <a:r>
              <a:t>The framework does ALL of this for you.</a:t>
            </a:r>
          </a:p>
          <a:p>
            <a:pPr/>
          </a:p>
          <a:p>
            <a:pPr/>
            <a:r>
              <a:t>Pay attention to that ~100ms compilation time — we'll see how caching eliminates this.</a:t>
            </a:r>
          </a:p>
          <a:p>
            <a:pPr/>
          </a:p>
          <a:p>
            <a:pPr/>
            <a:r>
              <a:t>TIP: Walk through each step. Emphasize ~100ms compilation.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5" name="Shape 16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12: Section Overview - Standard CL vs CL Extension (30 sec)</a:t>
            </a:r>
          </a:p>
          <a:p>
            <a:pPr/>
          </a:p>
          <a:p>
            <a:pPr/>
            <a:r>
              <a:t>In this section:</a:t>
            </a:r>
          </a:p>
          <a:p>
            <a:pPr/>
          </a:p>
          <a:p>
            <a:pPr/>
            <a:r>
              <a:t>• TWO PLATFORM TYPES the framework supports</a:t>
            </a:r>
          </a:p>
          <a:p>
            <a:pPr/>
            <a:r>
              <a:t>• STANDARD CL — portable, works everywhere</a:t>
            </a:r>
          </a:p>
          <a:p>
            <a:pPr/>
            <a:r>
              <a:t>• CL EXTENSION — vendor-optimized for production</a:t>
            </a:r>
          </a:p>
          <a:p>
            <a:pPr/>
            <a:r>
              <a:t>• ONE-LINE SWITCH between them</a:t>
            </a:r>
          </a:p>
          <a:p>
            <a:pPr/>
          </a:p>
          <a:p>
            <a:pPr/>
            <a:r>
              <a:t>Let me show you the branching.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1" name="Shape 17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13: Platform Branching (4 min)</a:t>
            </a:r>
          </a:p>
          <a:p>
            <a:pPr/>
          </a:p>
          <a:p>
            <a:pPr/>
            <a:r>
              <a:t>The framework supports two platform types — choose with a single JSON config line.</a:t>
            </a:r>
          </a:p>
          <a:p>
            <a:pPr/>
          </a:p>
          <a:p>
            <a:pPr/>
            <a:r>
              <a:t>STANDARD OPENCL on the left — uses only standard APIs. Works on ANY OpenCL GPU. Perfect for development.</a:t>
            </a:r>
          </a:p>
          <a:p>
            <a:pPr/>
          </a:p>
          <a:p>
            <a:pPr/>
            <a:r>
              <a:t>CL EXTENSION on the right — uses vendor-specific extensions. Maximum performance. Perfect for production.</a:t>
            </a:r>
          </a:p>
          <a:p>
            <a:pPr/>
          </a:p>
          <a:p>
            <a:pPr/>
            <a:r>
              <a:t>Key insight: your kernel code stays the same. Only the config changes.</a:t>
            </a:r>
          </a:p>
          <a:p>
            <a:pPr/>
          </a:p>
          <a:p>
            <a:pPr/>
            <a:r>
              <a:t>Develop on Standard CL, switch to CL Extension for production. One line change.</a:t>
            </a:r>
          </a:p>
          <a:p>
            <a:pPr/>
          </a:p>
          <a:p>
            <a:pPr/>
            <a:r>
              <a:t>TIP: Point to both columns. Emphasize "same kernel, different platform".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4" name="Shape 19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14: Platform Configuration in JSON (2 min)</a:t>
            </a:r>
          </a:p>
          <a:p>
            <a:pPr/>
          </a:p>
          <a:p>
            <a:pPr/>
            <a:r>
              <a:t>Here's what it looks like in practice.</a:t>
            </a:r>
          </a:p>
          <a:p>
            <a:pPr/>
          </a:p>
          <a:p>
            <a:pPr/>
            <a:r>
              <a:t>Same algorithm — ReLU — two variants.</a:t>
            </a:r>
          </a:p>
          <a:p>
            <a:pPr/>
          </a:p>
          <a:p>
            <a:pPr/>
            <a:r>
              <a:t>v0 uses host_type: standard. Runs on any GPU.</a:t>
            </a:r>
          </a:p>
          <a:p>
            <a:pPr/>
            <a:r>
              <a:t>v1 uses host_type: cl_extension. Runs with vendor optimizations.</a:t>
            </a:r>
          </a:p>
          <a:p>
            <a:pPr/>
          </a:p>
          <a:p>
            <a:pPr/>
            <a:r>
              <a:t>KEY BENEFITS to emphasize:</a:t>
            </a:r>
          </a:p>
          <a:p>
            <a:pPr/>
            <a:r>
              <a:t>• Runtime platform selection — choose at execution time</a:t>
            </a:r>
          </a:p>
          <a:p>
            <a:pPr/>
            <a:r>
              <a:t>• No code changes required — just config</a:t>
            </a:r>
          </a:p>
          <a:p>
            <a:pPr/>
            <a:r>
              <a:t>• No rebuild needed — same binary, different config</a:t>
            </a:r>
          </a:p>
          <a:p>
            <a:pPr/>
            <a:r>
              <a:t>• One line change to switch</a:t>
            </a:r>
          </a:p>
          <a:p>
            <a:pPr/>
            <a:r>
              <a:t>• Run both variants to compare performance</a:t>
            </a:r>
          </a:p>
          <a:p>
            <a:pPr/>
            <a:r>
              <a:t>• Same kernel.cl works on both platforms</a:t>
            </a:r>
          </a:p>
          <a:p>
            <a:pPr/>
          </a:p>
          <a:p>
            <a:pPr/>
            <a:r>
              <a:t>TIP: Point to the host_type field. Emphasize no rebuild needed.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8" name="Shape 20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16: Section Overview - Caching Mechanism (30 sec)</a:t>
            </a:r>
          </a:p>
          <a:p>
            <a:pPr/>
          </a:p>
          <a:p>
            <a:pPr/>
            <a:r>
              <a:t>In this section:</a:t>
            </a:r>
          </a:p>
          <a:p>
            <a:pPr/>
          </a:p>
          <a:p>
            <a:pPr/>
            <a:r>
              <a:t>• BINARY CACHING — how it works</a:t>
            </a:r>
          </a:p>
          <a:p>
            <a:pPr/>
            <a:r>
              <a:t>• CACHE MISS — first run compiles and saves</a:t>
            </a:r>
          </a:p>
          <a:p>
            <a:pPr/>
            <a:r>
              <a:t>• CACHE HIT — subsequent runs are 20x faster</a:t>
            </a:r>
          </a:p>
          <a:p>
            <a:pPr/>
            <a:r>
              <a:t>• AUTOMATIC INVALIDATION when you change code</a:t>
            </a:r>
          </a:p>
          <a:p>
            <a:pPr/>
          </a:p>
          <a:p>
            <a:pPr/>
            <a:r>
              <a:t>Let's see the flow.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3" name="Shape 21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17: Binary Caching (4 min)</a:t>
            </a:r>
          </a:p>
          <a:p>
            <a:pPr/>
          </a:p>
          <a:p>
            <a:pPr/>
            <a:r>
              <a:t>The framework uses binary caching to eliminate repeated compilation.</a:t>
            </a:r>
          </a:p>
          <a:p>
            <a:pPr/>
          </a:p>
          <a:p>
            <a:pPr/>
            <a:r>
              <a:t>CACHE MISS — First run, no cache. Compile from source: ~100ms. Save binary to cache.</a:t>
            </a:r>
          </a:p>
          <a:p>
            <a:pPr/>
          </a:p>
          <a:p>
            <a:pPr/>
            <a:r>
              <a:t>CACHE HIT — Subsequent runs find cached binary. Load directly: ~5ms. That's 20x speedup!</a:t>
            </a:r>
          </a:p>
          <a:p>
            <a:pPr/>
          </a:p>
          <a:p>
            <a:pPr/>
            <a:r>
              <a:t>Cache is invalidated automatically when kernel source changes (SHA256 hashing).</a:t>
            </a:r>
          </a:p>
          <a:p>
            <a:pPr/>
          </a:p>
          <a:p>
            <a:pPr/>
            <a:r>
              <a:t>First run is slow, every run after is fast. Change your kernel? One slow compile, then fast again.</a:t>
            </a:r>
          </a:p>
          <a:p>
            <a:pPr/>
          </a:p>
          <a:p>
            <a:pPr/>
            <a:r>
              <a:t>TIP: Trace both paths — emphasize 100ms vs 5ms. Key selling point.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22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7" name="Shape 22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19: Section Overview - JSON Configuration (30 sec)</a:t>
            </a:r>
          </a:p>
          <a:p>
            <a:pPr/>
          </a:p>
          <a:p>
            <a:pPr/>
            <a:r>
              <a:t>In this section:</a:t>
            </a:r>
          </a:p>
          <a:p>
            <a:pPr/>
          </a:p>
          <a:p>
            <a:pPr/>
            <a:r>
              <a:t>• FILE STRUCTURE — how configs are organized</a:t>
            </a:r>
          </a:p>
          <a:p>
            <a:pPr/>
            <a:r>
              <a:t>• GLOBAL vs ALGORITHM-SPECIFIC configs</a:t>
            </a:r>
          </a:p>
          <a:p>
            <a:pPr/>
            <a:r>
              <a:t>• COMPLETE KERNEL CONFIG — all the fields you need</a:t>
            </a:r>
          </a:p>
          <a:p>
            <a:pPr/>
            <a:r>
              <a:t>• ARGUMENT TYPES — covering any kernel pattern</a:t>
            </a:r>
          </a:p>
          <a:p>
            <a:pPr/>
          </a:p>
          <a:p>
            <a:pPr/>
            <a:r>
              <a:t>Let's look at the structure.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23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7" name="Shape 23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20: JSON Configuration Structure (2 min)</a:t>
            </a:r>
          </a:p>
          <a:p>
            <a:pPr/>
          </a:p>
          <a:p>
            <a:pPr/>
            <a:r>
              <a:t>All configuration lives in the config/ directory.</a:t>
            </a:r>
          </a:p>
          <a:p>
            <a:pPr/>
          </a:p>
          <a:p>
            <a:pPr/>
            <a:r>
              <a:t>INPUTS.JSON — Defines test images globally. Reusable across algorithms.</a:t>
            </a:r>
          </a:p>
          <a:p>
            <a:pPr/>
            <a:r>
              <a:t>OUTPUTS.JSON — Defines output specifications.</a:t>
            </a:r>
          </a:p>
          <a:p>
            <a:pPr/>
            <a:r>
              <a:t>ALGORITHM-SPECIFIC FILES — Each algorithm has its own config.</a:t>
            </a:r>
          </a:p>
          <a:p>
            <a:pPr/>
            <a:r>
              <a:t>TEMPLATE.JSON — Start from this for new algorithms.</a:t>
            </a:r>
          </a:p>
          <a:p>
            <a:pPr/>
          </a:p>
          <a:p>
            <a:pPr/>
            <a:r>
              <a:t>This structure promotes reuse. Define inputs once, use everywhere.</a:t>
            </a:r>
          </a:p>
          <a:p>
            <a:pPr/>
          </a:p>
          <a:p>
            <a:pPr/>
            <a:r>
              <a:t>TIP: Point to file tree. Show relationships.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24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5" name="Shape 24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21: Kernel Configuration (3 min)</a:t>
            </a:r>
          </a:p>
          <a:p>
            <a:pPr/>
          </a:p>
          <a:p>
            <a:pPr/>
            <a:r>
              <a:t>Complete kernel configuration for one variant.</a:t>
            </a:r>
          </a:p>
          <a:p>
            <a:pPr/>
          </a:p>
          <a:p>
            <a:pPr/>
            <a:r>
              <a:t>Key fields:</a:t>
            </a:r>
          </a:p>
          <a:p>
            <a:pPr/>
            <a:r>
              <a:t>• host_type: standard or cl_extension</a:t>
            </a:r>
          </a:p>
          <a:p>
            <a:pPr/>
            <a:r>
              <a:t>• kernel_file: path to .cl source</a:t>
            </a:r>
          </a:p>
          <a:p>
            <a:pPr/>
            <a:r>
              <a:t>• kernel_function: function name to call</a:t>
            </a:r>
          </a:p>
          <a:p>
            <a:pPr/>
            <a:r>
              <a:t>• work_dim, global_work_size, local_work_size: NDRange config</a:t>
            </a:r>
          </a:p>
          <a:p>
            <a:pPr/>
            <a:r>
              <a:t>• kernel_args: argument list with types</a:t>
            </a:r>
          </a:p>
          <a:p>
            <a:pPr/>
          </a:p>
          <a:p>
            <a:pPr/>
            <a:r>
              <a:t>This is ALL the information the framework needs to run your kernel.</a:t>
            </a:r>
          </a:p>
          <a:p>
            <a:pPr/>
          </a:p>
          <a:p>
            <a:pPr/>
            <a:r>
              <a:t>TIP: Highlight each field. Emphasize completeness.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25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1" name="Shape 25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22: Supported Argument Types (2 min)</a:t>
            </a:r>
          </a:p>
          <a:p>
            <a:pPr/>
          </a:p>
          <a:p>
            <a:pPr/>
            <a:r>
              <a:t>Six argument types:</a:t>
            </a:r>
          </a:p>
          <a:p>
            <a:pPr/>
          </a:p>
          <a:p>
            <a:pPr/>
            <a:r>
              <a:t>• INPUT BUFFER: Read-only data</a:t>
            </a:r>
          </a:p>
          <a:p>
            <a:pPr/>
            <a:r>
              <a:t>• OUTPUT BUFFER: Where results go</a:t>
            </a:r>
          </a:p>
          <a:p>
            <a:pPr/>
            <a:r>
              <a:t>• PARAMETER: Auto-extracted from images (width, height)</a:t>
            </a:r>
          </a:p>
          <a:p>
            <a:pPr/>
            <a:r>
              <a:t>• SCALAR: Custom constants</a:t>
            </a:r>
          </a:p>
          <a:p>
            <a:pPr/>
            <a:r>
              <a:t>• CUSTOM BUFFER: User-defined buffers</a:t>
            </a:r>
          </a:p>
          <a:p>
            <a:pPr/>
            <a:r>
              <a:t>• STRUCT: Pack multiple scalars</a:t>
            </a:r>
          </a:p>
          <a:p>
            <a:pPr/>
          </a:p>
          <a:p>
            <a:pPr/>
            <a:r>
              <a:t>These cover virtually every kernel argument pattern.</a:t>
            </a:r>
          </a:p>
          <a:p>
            <a:pPr/>
          </a:p>
          <a:p>
            <a:pPr/>
            <a:r>
              <a:t>TIP: Quick scan of table — reference material.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5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8" name="Shape 25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23: Part I Summary (2 min)</a:t>
            </a:r>
          </a:p>
          <a:p>
            <a:pPr/>
          </a:p>
          <a:p>
            <a:pPr/>
            <a:r>
              <a:t>Let's recap Part I:</a:t>
            </a:r>
          </a:p>
          <a:p>
            <a:pPr/>
          </a:p>
          <a:p>
            <a:pPr/>
            <a:r>
              <a:t>• Framework eliminates host code — just kernel + JSON</a:t>
            </a:r>
          </a:p>
          <a:p>
            <a:pPr/>
            <a:r>
              <a:t>• 6-step OpenCL flow handled for you</a:t>
            </a:r>
          </a:p>
          <a:p>
            <a:pPr/>
            <a:r>
              <a:t>• Two platforms: Standard CL for dev, CL Extension for production</a:t>
            </a:r>
          </a:p>
          <a:p>
            <a:pPr/>
            <a:r>
              <a:t>• Binary caching: 100ms → 5ms</a:t>
            </a:r>
          </a:p>
          <a:p>
            <a:pPr/>
            <a:r>
              <a:t>• JSON configuration: structured, reusable</a:t>
            </a:r>
          </a:p>
          <a:p>
            <a:pPr/>
          </a:p>
          <a:p>
            <a:pPr/>
            <a:r>
              <a:t>Any questions before Part II?</a:t>
            </a:r>
          </a:p>
          <a:p>
            <a:pPr/>
            <a:r>
              <a:t>[Genuine pause for questions]</a:t>
            </a:r>
          </a:p>
          <a:p>
            <a:pPr/>
          </a:p>
          <a:p>
            <a:pPr/>
            <a:r>
              <a:t>TRANSITION: "Ready for Part II? Let's talk about production deployment."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2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7" name="Shape 2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20: Agenda - Part II (30 sec)</a:t>
            </a:r>
          </a:p>
          <a:p>
            <a:pPr/>
          </a:p>
          <a:p>
            <a:pPr/>
            <a:r>
              <a:t>Now we're moving to Part II: Two-Phase Architecture.</a:t>
            </a:r>
          </a:p>
          <a:p>
            <a:pPr/>
          </a:p>
          <a:p>
            <a:pPr/>
            <a:r>
              <a:t>"Compile Once, Run Anywhere."</a:t>
            </a:r>
          </a:p>
          <a:p>
            <a:pPr/>
          </a:p>
          <a:p>
            <a:pPr/>
            <a:r>
              <a:t>In Part I, we saw how to develop and test kernels. Now let's see how to deploy them to production — including Android devices.</a:t>
            </a:r>
          </a:p>
          <a:p>
            <a:pPr/>
          </a:p>
          <a:p>
            <a:pPr/>
            <a:r>
              <a:t>Starting with a quick recap.</a:t>
            </a:r>
          </a:p>
          <a:p>
            <a:pPr/>
          </a:p>
          <a:p>
            <a:pPr/>
            <a:r>
              <a:t>TIP: Note that Part II is now highlighted. Point to Recap.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6" name="Shape 3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25: Part I Recap (1 min)</a:t>
            </a:r>
          </a:p>
          <a:p>
            <a:pPr/>
          </a:p>
          <a:p>
            <a:pPr/>
            <a:r>
              <a:t>Quick recap:</a:t>
            </a:r>
          </a:p>
          <a:p>
            <a:pPr/>
            <a:r>
              <a:t>• Framework benefits — zero host code</a:t>
            </a:r>
          </a:p>
          <a:p>
            <a:pPr/>
            <a:r>
              <a:t>• User journey — Build, Run, Learn</a:t>
            </a:r>
          </a:p>
          <a:p>
            <a:pPr/>
            <a:r>
              <a:t>• Platform options — Standard vs Extension</a:t>
            </a:r>
          </a:p>
          <a:p>
            <a:pPr/>
            <a:r>
              <a:t>• JSON configuration</a:t>
            </a:r>
          </a:p>
          <a:p>
            <a:pPr/>
          </a:p>
          <a:p>
            <a:pPr/>
            <a:r>
              <a:t>Now: how we split the host into two distinct phases — Compilation and Execution.</a:t>
            </a:r>
          </a:p>
          <a:p>
            <a:pPr/>
          </a:p>
          <a:p>
            <a:pPr/>
            <a:r>
              <a:t>TIP: Brief review. Point to the orange banner.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0" name="Shape 32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27: Section Overview - Why Two-Phase Architecture (30 sec)</a:t>
            </a:r>
          </a:p>
          <a:p>
            <a:pPr/>
          </a:p>
          <a:p>
            <a:pPr/>
            <a:r>
              <a:t>In this section:</a:t>
            </a:r>
          </a:p>
          <a:p>
            <a:pPr/>
          </a:p>
          <a:p>
            <a:pPr/>
            <a:r>
              <a:t>• PROBLEMS with monolithic flow for production</a:t>
            </a:r>
          </a:p>
          <a:p>
            <a:pPr/>
            <a:r>
              <a:t>• Why you don't want to ship source code</a:t>
            </a:r>
          </a:p>
          <a:p>
            <a:pPr/>
            <a:r>
              <a:t>• The SOLUTION — split into two phases</a:t>
            </a:r>
          </a:p>
          <a:p>
            <a:pPr/>
          </a:p>
          <a:p>
            <a:pPr/>
            <a:r>
              <a:t>Let's look at the problems.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Shape 33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35" name="Shape 33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28: The Problem with Monolithic Flow (3 min)</a:t>
            </a:r>
          </a:p>
          <a:p>
            <a:pPr/>
          </a:p>
          <a:p>
            <a:pPr/>
            <a:r>
              <a:t>Why two phases? Monolithic flow has serious production problems:</a:t>
            </a:r>
          </a:p>
          <a:p>
            <a:pPr/>
          </a:p>
          <a:p>
            <a:pPr/>
            <a:r>
              <a:t>1. Every run recompiles — ~100ms matters for real-time apps</a:t>
            </a:r>
          </a:p>
          <a:p>
            <a:pPr/>
            <a:r>
              <a:t>2. Source code must be on target — do you want to ship source?</a:t>
            </a:r>
          </a:p>
          <a:p>
            <a:pPr/>
            <a:r>
              <a:t>3. Can't pre-compile for different devices</a:t>
            </a:r>
          </a:p>
          <a:p>
            <a:pPr/>
            <a:r>
              <a:t>4. No binary-only distribution</a:t>
            </a:r>
          </a:p>
          <a:p>
            <a:pPr/>
          </a:p>
          <a:p>
            <a:pPr/>
            <a:r>
              <a:t>Solution: split into Compilation + Execution. Compile on dev machine, execute on target.</a:t>
            </a:r>
          </a:p>
          <a:p>
            <a:pPr/>
          </a:p>
          <a:p>
            <a:pPr/>
            <a:r>
              <a:t>TIP: Build the problem before the solution.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34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49" name="Shape 34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30: Section Overview - Compilation Phase (30 sec)</a:t>
            </a:r>
          </a:p>
          <a:p>
            <a:pPr/>
          </a:p>
          <a:p>
            <a:pPr/>
            <a:r>
              <a:t>In this section:</a:t>
            </a:r>
          </a:p>
          <a:p>
            <a:pPr/>
          </a:p>
          <a:p>
            <a:pPr/>
            <a:r>
              <a:t>• WHEN and WHERE compilation runs</a:t>
            </a:r>
          </a:p>
          <a:p>
            <a:pPr/>
            <a:r>
              <a:t>• INPUTS — source and config</a:t>
            </a:r>
          </a:p>
          <a:p>
            <a:pPr/>
            <a:r>
              <a:t>• OUTPUTS — binary and executor</a:t>
            </a:r>
          </a:p>
          <a:p>
            <a:pPr/>
            <a:r>
              <a:t>• What's INSIDE kernel.bin</a:t>
            </a:r>
          </a:p>
          <a:p>
            <a:pPr/>
          </a:p>
          <a:p>
            <a:pPr/>
            <a:r>
              <a:t>Let's see the architecture.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35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5" name="Shape 35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31: Two-Phase Architecture (4 min)</a:t>
            </a:r>
          </a:p>
          <a:p>
            <a:pPr/>
          </a:p>
          <a:p>
            <a:pPr/>
            <a:r>
              <a:t>LEFT — COMPILATION PHASE: Runs on Linux dev machine. Takes kernel source + JSON config. Outputs compiled binary + executor program.</a:t>
            </a:r>
          </a:p>
          <a:p>
            <a:pPr/>
          </a:p>
          <a:p>
            <a:pPr/>
            <a:r>
              <a:t>RIGHT — EXECUTION PHASE: Runs on target (Linux/Android). Takes pre-compiled binary + runtime config. Produces output.</a:t>
            </a:r>
          </a:p>
          <a:p>
            <a:pPr/>
          </a:p>
          <a:p>
            <a:pPr/>
            <a:r>
              <a:t>Key insight: compilation happens ONCE. Execution happens MANY times — without compiling.</a:t>
            </a:r>
          </a:p>
          <a:p>
            <a:pPr/>
          </a:p>
          <a:p>
            <a:pPr/>
            <a:r>
              <a:t>This is how you get fast startup, binary-only distribution, cross-platform deployment.</a:t>
            </a:r>
          </a:p>
          <a:p>
            <a:pPr/>
          </a:p>
          <a:p>
            <a:pPr/>
            <a:r>
              <a:t>TIP: Draw invisible line between phases. Emphasize "once" vs "many times".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36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9" name="Shape 36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32: Compilation Phase Details (3 min)</a:t>
            </a:r>
          </a:p>
          <a:p>
            <a:pPr/>
          </a:p>
          <a:p>
            <a:pPr/>
            <a:r>
              <a:t>INPUTS: Kernel source + JSON configuration.</a:t>
            </a:r>
          </a:p>
          <a:p>
            <a:pPr/>
          </a:p>
          <a:p>
            <a:pPr/>
            <a:r>
              <a:t>OUTPUTS:</a:t>
            </a:r>
          </a:p>
          <a:p>
            <a:pPr/>
            <a:r>
              <a:t>1. kernel.bin — compiled binary for target device</a:t>
            </a:r>
          </a:p>
          <a:p>
            <a:pPr/>
            <a:r>
              <a:t>2. opencl_host — Android-ready executable</a:t>
            </a:r>
          </a:p>
          <a:p>
            <a:pPr/>
          </a:p>
          <a:p>
            <a:pPr/>
            <a:r>
              <a:t>kernel.bin contains not just binary, but metadata: device name, OpenCL version, compile options.</a:t>
            </a:r>
          </a:p>
          <a:p>
            <a:pPr/>
          </a:p>
          <a:p>
            <a:pPr/>
            <a:r>
              <a:t>Run compilation once per target device type. Then ship the binary.</a:t>
            </a:r>
          </a:p>
          <a:p>
            <a:pPr/>
          </a:p>
          <a:p>
            <a:pPr/>
            <a:r>
              <a:t>TIP: Show input → output flow. Emphasize metadata.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Shape 38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83" name="Shape 38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34: Section Overview - Execution Phase (30 sec)</a:t>
            </a:r>
          </a:p>
          <a:p>
            <a:pPr/>
          </a:p>
          <a:p>
            <a:pPr/>
            <a:r>
              <a:t>In this section:</a:t>
            </a:r>
          </a:p>
          <a:p>
            <a:pPr/>
          </a:p>
          <a:p>
            <a:pPr/>
            <a:r>
              <a:t>• WHERE execution runs — Linux or Android</a:t>
            </a:r>
          </a:p>
          <a:p>
            <a:pPr/>
            <a:r>
              <a:t>• INPUTS — pre-compiled binary, config, data</a:t>
            </a:r>
          </a:p>
          <a:p>
            <a:pPr/>
            <a:r>
              <a:t>• The KEY API — clCreateProgramWithBinary()</a:t>
            </a:r>
          </a:p>
          <a:p>
            <a:pPr/>
            <a:r>
              <a:t>• PERFORMANCE gain — 20x faster</a:t>
            </a:r>
          </a:p>
          <a:p>
            <a:pPr/>
          </a:p>
          <a:p>
            <a:pPr/>
            <a:r>
              <a:t>Let's see the details.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Shape 39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8" name="Shape 39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35: Execution Phase (3 min)</a:t>
            </a:r>
          </a:p>
          <a:p>
            <a:pPr/>
          </a:p>
          <a:p>
            <a:pPr/>
            <a:r>
              <a:t>INPUTS: Pre-compiled kernel.bin + runtime config + input data.</a:t>
            </a:r>
          </a:p>
          <a:p>
            <a:pPr/>
          </a:p>
          <a:p>
            <a:pPr/>
            <a:r>
              <a:t>OUTPUT: Processed result.</a:t>
            </a:r>
          </a:p>
          <a:p>
            <a:pPr/>
          </a:p>
          <a:p>
            <a:pPr/>
            <a:r>
              <a:t>The magic: clCreateProgramWithBinary(). Load pre-compiled binary directly.</a:t>
            </a:r>
          </a:p>
          <a:p>
            <a:pPr/>
          </a:p>
          <a:p>
            <a:pPr/>
            <a:r>
              <a:t>Performance: ~5ms vs ~105ms. That's 20x improvement.</a:t>
            </a:r>
          </a:p>
          <a:p>
            <a:pPr/>
          </a:p>
          <a:p>
            <a:pPr/>
            <a:r>
              <a:t>For real-time image processing, this difference is critical.</a:t>
            </a:r>
          </a:p>
          <a:p>
            <a:pPr/>
          </a:p>
          <a:p>
            <a:pPr/>
            <a:r>
              <a:t>TIP: Emphasize clCreateProgramWithBinary(). Performance banner draws attention.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Shape 41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12" name="Shape 41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37: Section Overview - Cross-Platform Deployment (30 sec)</a:t>
            </a:r>
          </a:p>
          <a:p>
            <a:pPr/>
          </a:p>
          <a:p>
            <a:pPr/>
            <a:r>
              <a:t>In this section:</a:t>
            </a:r>
          </a:p>
          <a:p>
            <a:pPr/>
          </a:p>
          <a:p>
            <a:pPr/>
            <a:r>
              <a:t>• DEVELOP on Linux with full toolchain</a:t>
            </a:r>
          </a:p>
          <a:p>
            <a:pPr/>
            <a:r>
              <a:t>• DEPLOY to Linux or Android</a:t>
            </a:r>
          </a:p>
          <a:p>
            <a:pPr/>
            <a:r>
              <a:t>• WHAT TO SHIP — just 3 files</a:t>
            </a:r>
          </a:p>
          <a:p>
            <a:pPr/>
            <a:r>
              <a:t>• What you DON'T ship — source stays home</a:t>
            </a:r>
          </a:p>
          <a:p>
            <a:pPr/>
          </a:p>
          <a:p>
            <a:pPr/>
            <a:r>
              <a:t>Let's see the flow.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Shape 41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18" name="Shape 41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38: Cross-Platform Deployment (3 min)</a:t>
            </a:r>
          </a:p>
          <a:p>
            <a:pPr/>
          </a:p>
          <a:p>
            <a:pPr/>
            <a:r>
              <a:t>Develop on Linux — full toolchain available.</a:t>
            </a:r>
          </a:p>
          <a:p>
            <a:pPr/>
          </a:p>
          <a:p>
            <a:pPr/>
            <a:r>
              <a:t>Produce deployment package: executor binary + compiled kernel.</a:t>
            </a:r>
          </a:p>
          <a:p>
            <a:pPr/>
          </a:p>
          <a:p>
            <a:pPr/>
            <a:r>
              <a:t>Deploy to Linux servers OR Android devices. Same package, different targets.</a:t>
            </a:r>
          </a:p>
          <a:p>
            <a:pPr/>
          </a:p>
          <a:p>
            <a:pPr/>
            <a:r>
              <a:t>Android doesn't need compilation infrastructure — just executor + pre-compiled binary.</a:t>
            </a:r>
          </a:p>
          <a:p>
            <a:pPr/>
          </a:p>
          <a:p>
            <a:pPr/>
            <a:r>
              <a:t>TIP: Show flow left to right. Emphasize Android without toolchain.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Shape 43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34" name="Shape 43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39: What to Ship (3 min)</a:t>
            </a:r>
          </a:p>
          <a:p>
            <a:pPr/>
          </a:p>
          <a:p>
            <a:pPr/>
            <a:r>
              <a:t>WHAT YOU SHIP (3 files):</a:t>
            </a:r>
          </a:p>
          <a:p>
            <a:pPr/>
            <a:r>
              <a:t>• opencl_host — executor binary</a:t>
            </a:r>
          </a:p>
          <a:p>
            <a:pPr/>
            <a:r>
              <a:t>• kernel.bin — compiled algorithm</a:t>
            </a:r>
          </a:p>
          <a:p>
            <a:pPr/>
            <a:r>
              <a:t>• config.json — runtime config</a:t>
            </a:r>
          </a:p>
          <a:p>
            <a:pPr/>
          </a:p>
          <a:p>
            <a:pPr/>
            <a:r>
              <a:t>WHAT YOU DON'T SHIP:</a:t>
            </a:r>
          </a:p>
          <a:p>
            <a:pPr/>
            <a:r>
              <a:t>• Source code — stays on dev machine</a:t>
            </a:r>
          </a:p>
          <a:p>
            <a:pPr/>
            <a:r>
              <a:t>• Headers — not needed at runtime</a:t>
            </a:r>
          </a:p>
          <a:p>
            <a:pPr/>
            <a:r>
              <a:t>• Build tools — no compilation on target</a:t>
            </a:r>
          </a:p>
          <a:p>
            <a:pPr/>
            <a:r>
              <a:t>• Dev dependencies — production is lean</a:t>
            </a:r>
          </a:p>
          <a:p>
            <a:pPr/>
          </a:p>
          <a:p>
            <a:pPr/>
            <a:r>
              <a:t>Benefits: smaller footprint, no source exposure, faster startup.</a:t>
            </a:r>
          </a:p>
          <a:p>
            <a:pPr/>
          </a:p>
          <a:p>
            <a:pPr/>
            <a:r>
              <a:t>TIP: Contrast the two lists. "Ship this, not that."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Shape 44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45" name="Shape 44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41: Summary (3 min)</a:t>
            </a:r>
          </a:p>
          <a:p>
            <a:pPr/>
          </a:p>
          <a:p>
            <a:pPr/>
            <a:r>
              <a:t>COMPILATION: Once, on Linux, produces kernel.bin + opencl_host.</a:t>
            </a:r>
          </a:p>
          <a:p>
            <a:pPr/>
          </a:p>
          <a:p>
            <a:pPr/>
            <a:r>
              <a:t>EXECUTION: Many times, on Linux/Android, produces results.</a:t>
            </a:r>
          </a:p>
          <a:p>
            <a:pPr/>
          </a:p>
          <a:p>
            <a:pPr/>
            <a:r>
              <a:t>Key benefits:</a:t>
            </a:r>
          </a:p>
          <a:p>
            <a:pPr/>
            <a:r>
              <a:t>• Zero compile time after first run</a:t>
            </a:r>
          </a:p>
          <a:p>
            <a:pPr/>
            <a:r>
              <a:t>• Binary-only deployment</a:t>
            </a:r>
          </a:p>
          <a:p>
            <a:pPr/>
            <a:r>
              <a:t>• Cross-platform support</a:t>
            </a:r>
          </a:p>
          <a:p>
            <a:pPr/>
            <a:r>
              <a:t>• Smaller production footprint</a:t>
            </a:r>
          </a:p>
          <a:p>
            <a:pPr/>
          </a:p>
          <a:p>
            <a:pPr/>
            <a:r>
              <a:t>You now have everything to go from development to production.</a:t>
            </a:r>
          </a:p>
          <a:p>
            <a:pPr/>
          </a:p>
          <a:p>
            <a:pPr/>
            <a:r>
              <a:t>TIP: Touch table, then benefits. Build to confident conclusion.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Shape 45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52" name="Shape 45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33: Q&amp;A (5+ min)</a:t>
            </a:r>
          </a:p>
          <a:p>
            <a:pPr/>
          </a:p>
          <a:p>
            <a:pPr/>
            <a:r>
              <a:t>Thank you for your attention!</a:t>
            </a:r>
          </a:p>
          <a:p>
            <a:pPr/>
          </a:p>
          <a:p>
            <a:pPr/>
            <a:r>
              <a:t>Let's open the floor for questions.</a:t>
            </a:r>
          </a:p>
          <a:p>
            <a:pPr/>
          </a:p>
          <a:p>
            <a:pPr/>
            <a:r>
              <a:t>[If no immediate questions, seed with:]</a:t>
            </a:r>
          </a:p>
          <a:p>
            <a:pPr/>
            <a:r>
              <a:t>• "A common question is about performance vs hand-written host code..."</a:t>
            </a:r>
          </a:p>
          <a:p>
            <a:pPr/>
            <a:r>
              <a:t>• "Some teams ask about integrating with existing build systems..."</a:t>
            </a:r>
          </a:p>
          <a:p>
            <a:pPr/>
            <a:r>
              <a:t>• "You might be wondering about debugging kernel issues..."</a:t>
            </a:r>
          </a:p>
          <a:p>
            <a:pPr/>
          </a:p>
          <a:p>
            <a:pPr/>
            <a:r>
              <a:t>POTENTIAL Q&amp;A:</a:t>
            </a:r>
          </a:p>
          <a:p>
            <a:pPr/>
          </a:p>
          <a:p>
            <a:pPr/>
            <a:r>
              <a:t>Q: How does this compare to vendor SDKs?</a:t>
            </a:r>
          </a:p>
          <a:p>
            <a:pPr/>
            <a:r>
              <a:t>A: Vendor SDKs lock you in. Our framework abstracts both standard CL and vendor extensions. You get portability AND performance.</a:t>
            </a:r>
          </a:p>
          <a:p>
            <a:pPr/>
          </a:p>
          <a:p>
            <a:pPr/>
            <a:r>
              <a:t>Q: What's the learning curve?</a:t>
            </a:r>
          </a:p>
          <a:p>
            <a:pPr/>
            <a:r>
              <a:t>A: If you know OpenCL kernels, you're 90% there. JSON config takes maybe an hour. Most people are productive within a day.</a:t>
            </a:r>
          </a:p>
          <a:p>
            <a:pPr/>
          </a:p>
          <a:p>
            <a:pPr/>
            <a:r>
              <a:t>Q: Can I use existing kernels?</a:t>
            </a:r>
          </a:p>
          <a:p>
            <a:pPr/>
            <a:r>
              <a:t>A: Absolutely. Just create a JSON config. No code changes needed.</a:t>
            </a:r>
          </a:p>
          <a:p>
            <a:pPr/>
          </a:p>
          <a:p>
            <a:pPr/>
            <a:r>
              <a:t>Q: What about debugging?</a:t>
            </a:r>
          </a:p>
          <a:p>
            <a:pPr/>
            <a:r>
              <a:t>A: Framework provides detailed error messages and profiling. For kernel debugging, use standard OpenCL tools.</a:t>
            </a:r>
          </a:p>
          <a:p>
            <a:pPr/>
          </a:p>
          <a:p>
            <a:pPr/>
            <a:r>
              <a:t>[For closing:]</a:t>
            </a:r>
          </a:p>
          <a:p>
            <a:pPr/>
            <a:r>
              <a:t>Feel free to reach out if you have questions after this session.</a:t>
            </a:r>
          </a:p>
          <a:p>
            <a:pPr/>
          </a:p>
          <a:p>
            <a:pPr/>
            <a:r>
              <a:t>Thank you!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502919" y="1802308"/>
            <a:ext cx="8138162" cy="601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4000">
                <a:solidFill>
                  <a:srgbClr val="333333"/>
                </a:solidFill>
              </a:defRPr>
            </a:lvl1pPr>
          </a:lstStyle>
          <a:p>
            <a:pPr/>
            <a:r>
              <a:t>OpenCL Image Processing Framework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502919" y="2592685"/>
            <a:ext cx="8138162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400">
                <a:solidFill>
                  <a:srgbClr val="666666"/>
                </a:solidFill>
              </a:defRPr>
            </a:lvl1pPr>
          </a:lstStyle>
          <a:p>
            <a:pPr/>
            <a:r>
              <a:t>Easy Kernel Development, Zero Host Code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502919" y="3690183"/>
            <a:ext cx="81381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600">
                <a:solidFill>
                  <a:srgbClr val="666666"/>
                </a:solidFill>
              </a:defRPr>
            </a:lvl1pPr>
          </a:lstStyle>
          <a:p>
            <a:pPr/>
            <a:r>
              <a:t>60-Minute Technical Presentation</a:t>
            </a:r>
          </a:p>
        </p:txBody>
      </p:sp>
      <p:sp>
        <p:nvSpPr>
          <p:cNvPr id="23" name="Shape 3"/>
          <p:cNvSpPr/>
          <p:nvPr/>
        </p:nvSpPr>
        <p:spPr>
          <a:xfrm>
            <a:off x="2743200" y="3200399"/>
            <a:ext cx="3657600" cy="45722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 txBox="1"/>
          <p:nvPr/>
        </p:nvSpPr>
        <p:spPr>
          <a:xfrm>
            <a:off x="502919" y="326261"/>
            <a:ext cx="8138162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Agenda</a:t>
            </a:r>
          </a:p>
        </p:txBody>
      </p:sp>
      <p:sp>
        <p:nvSpPr>
          <p:cNvPr id="28" name="Shape 1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2"/>
          <p:cNvSpPr txBox="1"/>
          <p:nvPr/>
        </p:nvSpPr>
        <p:spPr>
          <a:xfrm>
            <a:off x="502920" y="1159336"/>
            <a:ext cx="374904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Part I: OCLExample Introduction</a:t>
            </a:r>
          </a:p>
        </p:txBody>
      </p:sp>
      <p:sp>
        <p:nvSpPr>
          <p:cNvPr id="30" name="Text 3"/>
          <p:cNvSpPr txBox="1"/>
          <p:nvPr/>
        </p:nvSpPr>
        <p:spPr>
          <a:xfrm>
            <a:off x="685800" y="157410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1" name="Text 4"/>
          <p:cNvSpPr txBox="1"/>
          <p:nvPr/>
        </p:nvSpPr>
        <p:spPr>
          <a:xfrm>
            <a:off x="960120" y="1574100"/>
            <a:ext cx="32918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Introduction / Features</a:t>
            </a:r>
          </a:p>
        </p:txBody>
      </p:sp>
      <p:sp>
        <p:nvSpPr>
          <p:cNvPr id="32" name="Text 5"/>
          <p:cNvSpPr txBox="1"/>
          <p:nvPr/>
        </p:nvSpPr>
        <p:spPr>
          <a:xfrm>
            <a:off x="685800" y="193986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3" name="Text 6"/>
          <p:cNvSpPr txBox="1"/>
          <p:nvPr/>
        </p:nvSpPr>
        <p:spPr>
          <a:xfrm>
            <a:off x="960120" y="1939860"/>
            <a:ext cx="32918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General OpenCL Host Flow</a:t>
            </a:r>
          </a:p>
        </p:txBody>
      </p:sp>
      <p:sp>
        <p:nvSpPr>
          <p:cNvPr id="34" name="Text 7"/>
          <p:cNvSpPr txBox="1"/>
          <p:nvPr/>
        </p:nvSpPr>
        <p:spPr>
          <a:xfrm>
            <a:off x="685800" y="230562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5" name="Text 8"/>
          <p:cNvSpPr txBox="1"/>
          <p:nvPr/>
        </p:nvSpPr>
        <p:spPr>
          <a:xfrm>
            <a:off x="960120" y="2305620"/>
            <a:ext cx="32918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Standard CL vs CL Extension</a:t>
            </a:r>
          </a:p>
        </p:txBody>
      </p:sp>
      <p:sp>
        <p:nvSpPr>
          <p:cNvPr id="36" name="Text 9"/>
          <p:cNvSpPr txBox="1"/>
          <p:nvPr/>
        </p:nvSpPr>
        <p:spPr>
          <a:xfrm>
            <a:off x="685800" y="267138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7" name="Text 10"/>
          <p:cNvSpPr txBox="1"/>
          <p:nvPr/>
        </p:nvSpPr>
        <p:spPr>
          <a:xfrm>
            <a:off x="960120" y="2671380"/>
            <a:ext cx="32918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Caching Mechanism</a:t>
            </a:r>
          </a:p>
        </p:txBody>
      </p:sp>
      <p:sp>
        <p:nvSpPr>
          <p:cNvPr id="38" name="Text 11"/>
          <p:cNvSpPr txBox="1"/>
          <p:nvPr/>
        </p:nvSpPr>
        <p:spPr>
          <a:xfrm>
            <a:off x="685800" y="303714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9" name="Text 12"/>
          <p:cNvSpPr txBox="1"/>
          <p:nvPr/>
        </p:nvSpPr>
        <p:spPr>
          <a:xfrm>
            <a:off x="960120" y="3037140"/>
            <a:ext cx="32918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JSON Configuration</a:t>
            </a:r>
          </a:p>
        </p:txBody>
      </p:sp>
      <p:sp>
        <p:nvSpPr>
          <p:cNvPr id="40" name="Text 13"/>
          <p:cNvSpPr txBox="1"/>
          <p:nvPr/>
        </p:nvSpPr>
        <p:spPr>
          <a:xfrm>
            <a:off x="4800599" y="1159336"/>
            <a:ext cx="38404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AAAAAA"/>
                </a:solidFill>
              </a:defRPr>
            </a:lvl1pPr>
          </a:lstStyle>
          <a:p>
            <a:pPr/>
            <a:r>
              <a:t>Part II: Two-Phase Architecture</a:t>
            </a:r>
          </a:p>
        </p:txBody>
      </p:sp>
      <p:sp>
        <p:nvSpPr>
          <p:cNvPr id="41" name="Text 14"/>
          <p:cNvSpPr txBox="1"/>
          <p:nvPr/>
        </p:nvSpPr>
        <p:spPr>
          <a:xfrm>
            <a:off x="4983479" y="157410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42" name="Text 15"/>
          <p:cNvSpPr txBox="1"/>
          <p:nvPr/>
        </p:nvSpPr>
        <p:spPr>
          <a:xfrm>
            <a:off x="5257799" y="1574100"/>
            <a:ext cx="33832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Recap</a:t>
            </a:r>
          </a:p>
        </p:txBody>
      </p:sp>
      <p:sp>
        <p:nvSpPr>
          <p:cNvPr id="43" name="Text 16"/>
          <p:cNvSpPr txBox="1"/>
          <p:nvPr/>
        </p:nvSpPr>
        <p:spPr>
          <a:xfrm>
            <a:off x="4983479" y="193986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44" name="Text 17"/>
          <p:cNvSpPr txBox="1"/>
          <p:nvPr/>
        </p:nvSpPr>
        <p:spPr>
          <a:xfrm>
            <a:off x="5257799" y="1939860"/>
            <a:ext cx="33832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Why Two-Phase Architecture</a:t>
            </a:r>
          </a:p>
        </p:txBody>
      </p:sp>
      <p:sp>
        <p:nvSpPr>
          <p:cNvPr id="45" name="Text 18"/>
          <p:cNvSpPr txBox="1"/>
          <p:nvPr/>
        </p:nvSpPr>
        <p:spPr>
          <a:xfrm>
            <a:off x="4983479" y="230562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46" name="Text 19"/>
          <p:cNvSpPr txBox="1"/>
          <p:nvPr/>
        </p:nvSpPr>
        <p:spPr>
          <a:xfrm>
            <a:off x="5257799" y="2305620"/>
            <a:ext cx="33832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Compilation Phase</a:t>
            </a:r>
          </a:p>
        </p:txBody>
      </p:sp>
      <p:sp>
        <p:nvSpPr>
          <p:cNvPr id="47" name="Text 20"/>
          <p:cNvSpPr txBox="1"/>
          <p:nvPr/>
        </p:nvSpPr>
        <p:spPr>
          <a:xfrm>
            <a:off x="4983479" y="267138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48" name="Text 21"/>
          <p:cNvSpPr txBox="1"/>
          <p:nvPr/>
        </p:nvSpPr>
        <p:spPr>
          <a:xfrm>
            <a:off x="5257799" y="2671380"/>
            <a:ext cx="33832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Execution Phase</a:t>
            </a:r>
          </a:p>
        </p:txBody>
      </p:sp>
      <p:sp>
        <p:nvSpPr>
          <p:cNvPr id="49" name="Text 22"/>
          <p:cNvSpPr txBox="1"/>
          <p:nvPr/>
        </p:nvSpPr>
        <p:spPr>
          <a:xfrm>
            <a:off x="4983479" y="303714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50" name="Text 23"/>
          <p:cNvSpPr txBox="1"/>
          <p:nvPr/>
        </p:nvSpPr>
        <p:spPr>
          <a:xfrm>
            <a:off x="5257799" y="3037140"/>
            <a:ext cx="33832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Cross-Platform Deployment</a:t>
            </a:r>
          </a:p>
        </p:txBody>
      </p:sp>
      <p:sp>
        <p:nvSpPr>
          <p:cNvPr id="51" name="Text 24"/>
          <p:cNvSpPr txBox="1"/>
          <p:nvPr/>
        </p:nvSpPr>
        <p:spPr>
          <a:xfrm>
            <a:off x="4983479" y="340290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52" name="Text 25"/>
          <p:cNvSpPr txBox="1"/>
          <p:nvPr/>
        </p:nvSpPr>
        <p:spPr>
          <a:xfrm>
            <a:off x="5257799" y="3402900"/>
            <a:ext cx="33832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Summary &amp; Q&amp;A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/>
          <p:cNvSpPr/>
          <p:nvPr/>
        </p:nvSpPr>
        <p:spPr>
          <a:xfrm>
            <a:off x="274320" y="1005839"/>
            <a:ext cx="8595360" cy="3749042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Text 1"/>
          <p:cNvSpPr txBox="1"/>
          <p:nvPr/>
        </p:nvSpPr>
        <p:spPr>
          <a:xfrm>
            <a:off x="502919" y="326261"/>
            <a:ext cx="8138162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Introduction / Features</a:t>
            </a:r>
          </a:p>
        </p:txBody>
      </p:sp>
      <p:sp>
        <p:nvSpPr>
          <p:cNvPr id="58" name="Shape 2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Text 3"/>
          <p:cNvSpPr txBox="1"/>
          <p:nvPr/>
        </p:nvSpPr>
        <p:spPr>
          <a:xfrm>
            <a:off x="594360" y="134221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60" name="Text 4"/>
          <p:cNvSpPr txBox="1"/>
          <p:nvPr/>
        </p:nvSpPr>
        <p:spPr>
          <a:xfrm>
            <a:off x="960120" y="135846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The problem: 500+ lines of boilerplate for each OpenCL algorithm</a:t>
            </a:r>
          </a:p>
        </p:txBody>
      </p:sp>
      <p:sp>
        <p:nvSpPr>
          <p:cNvPr id="61" name="Text 5"/>
          <p:cNvSpPr txBox="1"/>
          <p:nvPr/>
        </p:nvSpPr>
        <p:spPr>
          <a:xfrm>
            <a:off x="594360" y="189085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62" name="Text 6"/>
          <p:cNvSpPr txBox="1"/>
          <p:nvPr/>
        </p:nvSpPr>
        <p:spPr>
          <a:xfrm>
            <a:off x="960120" y="190710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The solution: JSON-driven configuration, zero host code</a:t>
            </a:r>
          </a:p>
        </p:txBody>
      </p:sp>
      <p:sp>
        <p:nvSpPr>
          <p:cNvPr id="63" name="Text 7"/>
          <p:cNvSpPr txBox="1"/>
          <p:nvPr/>
        </p:nvSpPr>
        <p:spPr>
          <a:xfrm>
            <a:off x="594360" y="243949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64" name="Text 8"/>
          <p:cNvSpPr txBox="1"/>
          <p:nvPr/>
        </p:nvSpPr>
        <p:spPr>
          <a:xfrm>
            <a:off x="960120" y="245574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Six key benefits of the framework</a:t>
            </a:r>
          </a:p>
        </p:txBody>
      </p:sp>
      <p:sp>
        <p:nvSpPr>
          <p:cNvPr id="65" name="Text 9"/>
          <p:cNvSpPr txBox="1"/>
          <p:nvPr/>
        </p:nvSpPr>
        <p:spPr>
          <a:xfrm>
            <a:off x="594360" y="298813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66" name="Text 10"/>
          <p:cNvSpPr txBox="1"/>
          <p:nvPr/>
        </p:nvSpPr>
        <p:spPr>
          <a:xfrm>
            <a:off x="960120" y="300438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User journey: Build → Run → Learn</a:t>
            </a:r>
          </a:p>
        </p:txBody>
      </p:sp>
      <p:sp>
        <p:nvSpPr>
          <p:cNvPr id="67" name="Text 11"/>
          <p:cNvSpPr txBox="1"/>
          <p:nvPr/>
        </p:nvSpPr>
        <p:spPr>
          <a:xfrm>
            <a:off x="594360" y="353677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68" name="Text 12"/>
          <p:cNvSpPr txBox="1"/>
          <p:nvPr/>
        </p:nvSpPr>
        <p:spPr>
          <a:xfrm>
            <a:off x="960120" y="355302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High-level architecture overview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0"/>
          <p:cNvSpPr txBox="1"/>
          <p:nvPr/>
        </p:nvSpPr>
        <p:spPr>
          <a:xfrm>
            <a:off x="502919" y="326261"/>
            <a:ext cx="8138162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The Problem We Solve</a:t>
            </a:r>
          </a:p>
        </p:txBody>
      </p:sp>
      <p:sp>
        <p:nvSpPr>
          <p:cNvPr id="73" name="Shape 1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2"/>
          <p:cNvSpPr txBox="1"/>
          <p:nvPr/>
        </p:nvSpPr>
        <p:spPr>
          <a:xfrm>
            <a:off x="502919" y="1038423"/>
            <a:ext cx="81381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666666"/>
                </a:solidFill>
              </a:defRPr>
            </a:lvl1pPr>
          </a:lstStyle>
          <a:p>
            <a:pPr/>
            <a:r>
              <a:t>Traditional OpenCL Development Pain Points</a:t>
            </a:r>
          </a:p>
        </p:txBody>
      </p:sp>
      <p:sp>
        <p:nvSpPr>
          <p:cNvPr id="75" name="Text 3"/>
          <p:cNvSpPr txBox="1"/>
          <p:nvPr/>
        </p:nvSpPr>
        <p:spPr>
          <a:xfrm>
            <a:off x="594360" y="1475739"/>
            <a:ext cx="1828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E53935"/>
                </a:solidFill>
              </a:defRPr>
            </a:lvl1pPr>
          </a:lstStyle>
          <a:p>
            <a:pPr/>
            <a:r>
              <a:t>✗</a:t>
            </a:r>
          </a:p>
        </p:txBody>
      </p:sp>
      <p:sp>
        <p:nvSpPr>
          <p:cNvPr id="76" name="Text 4"/>
          <p:cNvSpPr txBox="1"/>
          <p:nvPr/>
        </p:nvSpPr>
        <p:spPr>
          <a:xfrm>
            <a:off x="960119" y="1482660"/>
            <a:ext cx="72237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333333"/>
                </a:solidFill>
              </a:defRPr>
            </a:lvl1pPr>
          </a:lstStyle>
          <a:p>
            <a:pPr/>
            <a:r>
              <a:t>Writing 500+ lines of host code for each algorithm</a:t>
            </a:r>
          </a:p>
        </p:txBody>
      </p:sp>
      <p:sp>
        <p:nvSpPr>
          <p:cNvPr id="77" name="Text 5"/>
          <p:cNvSpPr txBox="1"/>
          <p:nvPr/>
        </p:nvSpPr>
        <p:spPr>
          <a:xfrm>
            <a:off x="594360" y="1887220"/>
            <a:ext cx="1828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E53935"/>
                </a:solidFill>
              </a:defRPr>
            </a:lvl1pPr>
          </a:lstStyle>
          <a:p>
            <a:pPr/>
            <a:r>
              <a:t>✗</a:t>
            </a:r>
          </a:p>
        </p:txBody>
      </p:sp>
      <p:sp>
        <p:nvSpPr>
          <p:cNvPr id="78" name="Text 6"/>
          <p:cNvSpPr txBox="1"/>
          <p:nvPr/>
        </p:nvSpPr>
        <p:spPr>
          <a:xfrm>
            <a:off x="960119" y="1894140"/>
            <a:ext cx="72237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333333"/>
                </a:solidFill>
              </a:defRPr>
            </a:lvl1pPr>
          </a:lstStyle>
          <a:p>
            <a:pPr/>
            <a:r>
              <a:t>Managing OpenCL contexts, queues, buffers manually</a:t>
            </a:r>
          </a:p>
        </p:txBody>
      </p:sp>
      <p:sp>
        <p:nvSpPr>
          <p:cNvPr id="79" name="Text 7"/>
          <p:cNvSpPr txBox="1"/>
          <p:nvPr/>
        </p:nvSpPr>
        <p:spPr>
          <a:xfrm>
            <a:off x="594360" y="2298700"/>
            <a:ext cx="1828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E53935"/>
                </a:solidFill>
              </a:defRPr>
            </a:lvl1pPr>
          </a:lstStyle>
          <a:p>
            <a:pPr/>
            <a:r>
              <a:t>✗</a:t>
            </a:r>
          </a:p>
        </p:txBody>
      </p:sp>
      <p:sp>
        <p:nvSpPr>
          <p:cNvPr id="80" name="Text 8"/>
          <p:cNvSpPr txBox="1"/>
          <p:nvPr/>
        </p:nvSpPr>
        <p:spPr>
          <a:xfrm>
            <a:off x="960119" y="2305620"/>
            <a:ext cx="72237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333333"/>
                </a:solidFill>
              </a:defRPr>
            </a:lvl1pPr>
          </a:lstStyle>
          <a:p>
            <a:pPr/>
            <a:r>
              <a:t>Compiling kernels and handling errors</a:t>
            </a:r>
          </a:p>
        </p:txBody>
      </p:sp>
      <p:sp>
        <p:nvSpPr>
          <p:cNvPr id="81" name="Text 9"/>
          <p:cNvSpPr txBox="1"/>
          <p:nvPr/>
        </p:nvSpPr>
        <p:spPr>
          <a:xfrm>
            <a:off x="594360" y="2710179"/>
            <a:ext cx="1828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E53935"/>
                </a:solidFill>
              </a:defRPr>
            </a:lvl1pPr>
          </a:lstStyle>
          <a:p>
            <a:pPr/>
            <a:r>
              <a:t>✗</a:t>
            </a:r>
          </a:p>
        </p:txBody>
      </p:sp>
      <p:sp>
        <p:nvSpPr>
          <p:cNvPr id="82" name="Text 10"/>
          <p:cNvSpPr txBox="1"/>
          <p:nvPr/>
        </p:nvSpPr>
        <p:spPr>
          <a:xfrm>
            <a:off x="960119" y="2717100"/>
            <a:ext cx="72237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333333"/>
                </a:solidFill>
              </a:defRPr>
            </a:lvl1pPr>
          </a:lstStyle>
          <a:p>
            <a:pPr/>
            <a:r>
              <a:t>Setting up arguments and work sizes</a:t>
            </a:r>
          </a:p>
        </p:txBody>
      </p:sp>
      <p:sp>
        <p:nvSpPr>
          <p:cNvPr id="83" name="Text 11"/>
          <p:cNvSpPr txBox="1"/>
          <p:nvPr/>
        </p:nvSpPr>
        <p:spPr>
          <a:xfrm>
            <a:off x="594360" y="3121660"/>
            <a:ext cx="1828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E53935"/>
                </a:solidFill>
              </a:defRPr>
            </a:lvl1pPr>
          </a:lstStyle>
          <a:p>
            <a:pPr/>
            <a:r>
              <a:t>✗</a:t>
            </a:r>
          </a:p>
        </p:txBody>
      </p:sp>
      <p:sp>
        <p:nvSpPr>
          <p:cNvPr id="84" name="Text 12"/>
          <p:cNvSpPr txBox="1"/>
          <p:nvPr/>
        </p:nvSpPr>
        <p:spPr>
          <a:xfrm>
            <a:off x="960119" y="3128580"/>
            <a:ext cx="72237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333333"/>
                </a:solidFill>
              </a:defRPr>
            </a:lvl1pPr>
          </a:lstStyle>
          <a:p>
            <a:pPr/>
            <a:r>
              <a:t>Verifying results against CPU reference</a:t>
            </a:r>
          </a:p>
        </p:txBody>
      </p:sp>
      <p:sp>
        <p:nvSpPr>
          <p:cNvPr id="85" name="Text 13"/>
          <p:cNvSpPr txBox="1"/>
          <p:nvPr/>
        </p:nvSpPr>
        <p:spPr>
          <a:xfrm>
            <a:off x="594360" y="3533140"/>
            <a:ext cx="18288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E53935"/>
                </a:solidFill>
              </a:defRPr>
            </a:lvl1pPr>
          </a:lstStyle>
          <a:p>
            <a:pPr/>
            <a:r>
              <a:t>✗</a:t>
            </a:r>
          </a:p>
        </p:txBody>
      </p:sp>
      <p:sp>
        <p:nvSpPr>
          <p:cNvPr id="86" name="Text 14"/>
          <p:cNvSpPr txBox="1"/>
          <p:nvPr/>
        </p:nvSpPr>
        <p:spPr>
          <a:xfrm>
            <a:off x="960119" y="3540060"/>
            <a:ext cx="72237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333333"/>
                </a:solidFill>
              </a:defRPr>
            </a:lvl1pPr>
          </a:lstStyle>
          <a:p>
            <a:pPr/>
            <a:r>
              <a:t>Repeating this for every kernel variant</a:t>
            </a:r>
          </a:p>
        </p:txBody>
      </p:sp>
      <p:sp>
        <p:nvSpPr>
          <p:cNvPr id="87" name="Shape 15"/>
          <p:cNvSpPr/>
          <p:nvPr/>
        </p:nvSpPr>
        <p:spPr>
          <a:xfrm>
            <a:off x="457200" y="4023359"/>
            <a:ext cx="8229600" cy="914401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Text 16"/>
          <p:cNvSpPr txBox="1"/>
          <p:nvPr/>
        </p:nvSpPr>
        <p:spPr>
          <a:xfrm>
            <a:off x="685799" y="4314016"/>
            <a:ext cx="7772402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333333"/>
                </a:solidFill>
              </a:defRPr>
            </a:lvl1pPr>
          </a:lstStyle>
          <a:p>
            <a:pPr/>
            <a:r>
              <a:t>Solution: This framework eliminates all the boilerplate!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 txBox="1"/>
          <p:nvPr/>
        </p:nvSpPr>
        <p:spPr>
          <a:xfrm>
            <a:off x="502919" y="326261"/>
            <a:ext cx="8138162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Framework Benefits</a:t>
            </a:r>
          </a:p>
        </p:txBody>
      </p:sp>
      <p:sp>
        <p:nvSpPr>
          <p:cNvPr id="93" name="Shape 1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Shape 2"/>
          <p:cNvSpPr/>
          <p:nvPr/>
        </p:nvSpPr>
        <p:spPr>
          <a:xfrm>
            <a:off x="457199" y="1097280"/>
            <a:ext cx="2651762" cy="1371601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Text 3"/>
          <p:cNvSpPr txBox="1"/>
          <p:nvPr/>
        </p:nvSpPr>
        <p:spPr>
          <a:xfrm>
            <a:off x="594360" y="1179829"/>
            <a:ext cx="27432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FA9D1B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96" name="Text 4"/>
          <p:cNvSpPr txBox="1"/>
          <p:nvPr/>
        </p:nvSpPr>
        <p:spPr>
          <a:xfrm>
            <a:off x="594359" y="1596960"/>
            <a:ext cx="237744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Zero Host Code</a:t>
            </a:r>
          </a:p>
        </p:txBody>
      </p:sp>
      <p:sp>
        <p:nvSpPr>
          <p:cNvPr id="97" name="Text 5"/>
          <p:cNvSpPr txBox="1"/>
          <p:nvPr/>
        </p:nvSpPr>
        <p:spPr>
          <a:xfrm>
            <a:off x="594359" y="1978967"/>
            <a:ext cx="23774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666666"/>
                </a:solidFill>
              </a:defRPr>
            </a:lvl1pPr>
          </a:lstStyle>
          <a:p>
            <a:pPr/>
            <a:r>
              <a:t>JSON-driven configuration</a:t>
            </a:r>
          </a:p>
        </p:txBody>
      </p:sp>
      <p:sp>
        <p:nvSpPr>
          <p:cNvPr id="98" name="Shape 6"/>
          <p:cNvSpPr/>
          <p:nvPr/>
        </p:nvSpPr>
        <p:spPr>
          <a:xfrm>
            <a:off x="3291840" y="1097280"/>
            <a:ext cx="2651761" cy="1371601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Text 7"/>
          <p:cNvSpPr txBox="1"/>
          <p:nvPr/>
        </p:nvSpPr>
        <p:spPr>
          <a:xfrm>
            <a:off x="3428999" y="1179829"/>
            <a:ext cx="27432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FA9D1B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00" name="Text 8"/>
          <p:cNvSpPr txBox="1"/>
          <p:nvPr/>
        </p:nvSpPr>
        <p:spPr>
          <a:xfrm>
            <a:off x="3428999" y="1596960"/>
            <a:ext cx="237744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Instant Comparison</a:t>
            </a:r>
          </a:p>
        </p:txBody>
      </p:sp>
      <p:sp>
        <p:nvSpPr>
          <p:cNvPr id="101" name="Text 9"/>
          <p:cNvSpPr txBox="1"/>
          <p:nvPr/>
        </p:nvSpPr>
        <p:spPr>
          <a:xfrm>
            <a:off x="3428999" y="1978967"/>
            <a:ext cx="23774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666666"/>
                </a:solidFill>
              </a:defRPr>
            </a:lvl1pPr>
          </a:lstStyle>
          <a:p>
            <a:pPr/>
            <a:r>
              <a:t>Run multiple variants</a:t>
            </a:r>
          </a:p>
        </p:txBody>
      </p:sp>
      <p:sp>
        <p:nvSpPr>
          <p:cNvPr id="102" name="Shape 10"/>
          <p:cNvSpPr/>
          <p:nvPr/>
        </p:nvSpPr>
        <p:spPr>
          <a:xfrm>
            <a:off x="6126479" y="1097280"/>
            <a:ext cx="2651761" cy="1371601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Text 11"/>
          <p:cNvSpPr txBox="1"/>
          <p:nvPr/>
        </p:nvSpPr>
        <p:spPr>
          <a:xfrm>
            <a:off x="6263640" y="1179829"/>
            <a:ext cx="27432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FA9D1B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04" name="Text 12"/>
          <p:cNvSpPr txBox="1"/>
          <p:nvPr/>
        </p:nvSpPr>
        <p:spPr>
          <a:xfrm>
            <a:off x="6263640" y="1596960"/>
            <a:ext cx="237744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Platform Switching</a:t>
            </a:r>
          </a:p>
        </p:txBody>
      </p:sp>
      <p:sp>
        <p:nvSpPr>
          <p:cNvPr id="105" name="Text 13"/>
          <p:cNvSpPr txBox="1"/>
          <p:nvPr/>
        </p:nvSpPr>
        <p:spPr>
          <a:xfrm>
            <a:off x="6263640" y="1978967"/>
            <a:ext cx="23774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666666"/>
                </a:solidFill>
              </a:defRPr>
            </a:lvl1pPr>
          </a:lstStyle>
          <a:p>
            <a:pPr/>
            <a:r>
              <a:t>Standard GPU vs CL Extension</a:t>
            </a:r>
          </a:p>
        </p:txBody>
      </p:sp>
      <p:sp>
        <p:nvSpPr>
          <p:cNvPr id="106" name="Shape 14"/>
          <p:cNvSpPr/>
          <p:nvPr/>
        </p:nvSpPr>
        <p:spPr>
          <a:xfrm>
            <a:off x="457199" y="2743200"/>
            <a:ext cx="2651762" cy="1371600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Text 15"/>
          <p:cNvSpPr txBox="1"/>
          <p:nvPr/>
        </p:nvSpPr>
        <p:spPr>
          <a:xfrm>
            <a:off x="594360" y="2825749"/>
            <a:ext cx="27432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FA9D1B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08" name="Text 16"/>
          <p:cNvSpPr txBox="1"/>
          <p:nvPr/>
        </p:nvSpPr>
        <p:spPr>
          <a:xfrm>
            <a:off x="594359" y="3242880"/>
            <a:ext cx="237744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Auto-Verification</a:t>
            </a:r>
          </a:p>
        </p:txBody>
      </p:sp>
      <p:sp>
        <p:nvSpPr>
          <p:cNvPr id="109" name="Text 17"/>
          <p:cNvSpPr txBox="1"/>
          <p:nvPr/>
        </p:nvSpPr>
        <p:spPr>
          <a:xfrm>
            <a:off x="594359" y="3624887"/>
            <a:ext cx="23774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666666"/>
                </a:solidFill>
              </a:defRPr>
            </a:lvl1pPr>
          </a:lstStyle>
          <a:p>
            <a:pPr/>
            <a:r>
              <a:t>GPU output vs CPU reference</a:t>
            </a:r>
          </a:p>
        </p:txBody>
      </p:sp>
      <p:sp>
        <p:nvSpPr>
          <p:cNvPr id="110" name="Shape 18"/>
          <p:cNvSpPr/>
          <p:nvPr/>
        </p:nvSpPr>
        <p:spPr>
          <a:xfrm>
            <a:off x="3291840" y="2743200"/>
            <a:ext cx="2651761" cy="1371600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Text 19"/>
          <p:cNvSpPr txBox="1"/>
          <p:nvPr/>
        </p:nvSpPr>
        <p:spPr>
          <a:xfrm>
            <a:off x="3428999" y="2825749"/>
            <a:ext cx="27432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FA9D1B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12" name="Text 20"/>
          <p:cNvSpPr txBox="1"/>
          <p:nvPr/>
        </p:nvSpPr>
        <p:spPr>
          <a:xfrm>
            <a:off x="3428999" y="3242880"/>
            <a:ext cx="237744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Binary Caching</a:t>
            </a:r>
          </a:p>
        </p:txBody>
      </p:sp>
      <p:sp>
        <p:nvSpPr>
          <p:cNvPr id="113" name="Text 21"/>
          <p:cNvSpPr txBox="1"/>
          <p:nvPr/>
        </p:nvSpPr>
        <p:spPr>
          <a:xfrm>
            <a:off x="3428999" y="3624887"/>
            <a:ext cx="23774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666666"/>
                </a:solidFill>
              </a:defRPr>
            </a:lvl1pPr>
          </a:lstStyle>
          <a:p>
            <a:pPr/>
            <a:r>
              <a:t>Fast re-runs with cached kernels</a:t>
            </a:r>
          </a:p>
        </p:txBody>
      </p:sp>
      <p:sp>
        <p:nvSpPr>
          <p:cNvPr id="114" name="Shape 22"/>
          <p:cNvSpPr/>
          <p:nvPr/>
        </p:nvSpPr>
        <p:spPr>
          <a:xfrm>
            <a:off x="6126479" y="2743200"/>
            <a:ext cx="2651761" cy="1371600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Text 23"/>
          <p:cNvSpPr txBox="1"/>
          <p:nvPr/>
        </p:nvSpPr>
        <p:spPr>
          <a:xfrm>
            <a:off x="6263640" y="2825749"/>
            <a:ext cx="27432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FA9D1B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16" name="Text 24"/>
          <p:cNvSpPr txBox="1"/>
          <p:nvPr/>
        </p:nvSpPr>
        <p:spPr>
          <a:xfrm>
            <a:off x="6263640" y="3242880"/>
            <a:ext cx="237744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Easy Extension</a:t>
            </a:r>
          </a:p>
        </p:txBody>
      </p:sp>
      <p:sp>
        <p:nvSpPr>
          <p:cNvPr id="117" name="Text 25"/>
          <p:cNvSpPr txBox="1"/>
          <p:nvPr/>
        </p:nvSpPr>
        <p:spPr>
          <a:xfrm>
            <a:off x="6263640" y="3624887"/>
            <a:ext cx="23774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666666"/>
                </a:solidFill>
              </a:defRPr>
            </a:lvl1pPr>
          </a:lstStyle>
          <a:p>
            <a:pPr/>
            <a:r>
              <a:t>Add new algorithms with scaffold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0"/>
          <p:cNvSpPr txBox="1"/>
          <p:nvPr/>
        </p:nvSpPr>
        <p:spPr>
          <a:xfrm>
            <a:off x="502919" y="306685"/>
            <a:ext cx="8138162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400">
                <a:solidFill>
                  <a:srgbClr val="333333"/>
                </a:solidFill>
              </a:defRPr>
            </a:lvl1pPr>
          </a:lstStyle>
          <a:p>
            <a:pPr/>
            <a:r>
              <a:t>User Journey: Build → Run → Learn</a:t>
            </a:r>
          </a:p>
        </p:txBody>
      </p:sp>
      <p:sp>
        <p:nvSpPr>
          <p:cNvPr id="122" name="Shape 1"/>
          <p:cNvSpPr/>
          <p:nvPr/>
        </p:nvSpPr>
        <p:spPr>
          <a:xfrm>
            <a:off x="457200" y="685799"/>
            <a:ext cx="1371600" cy="45722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23" name="image-6-1.pdf" descr="image-6-1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2582" y="797403"/>
            <a:ext cx="7838836" cy="440934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 txBox="1"/>
          <p:nvPr/>
        </p:nvSpPr>
        <p:spPr>
          <a:xfrm>
            <a:off x="502919" y="306685"/>
            <a:ext cx="8138162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400">
                <a:solidFill>
                  <a:srgbClr val="333333"/>
                </a:solidFill>
              </a:defRPr>
            </a:lvl1pPr>
          </a:lstStyle>
          <a:p>
            <a:pPr/>
            <a:r>
              <a:t>High-Level Architecture</a:t>
            </a:r>
          </a:p>
        </p:txBody>
      </p:sp>
      <p:sp>
        <p:nvSpPr>
          <p:cNvPr id="128" name="Shape 1"/>
          <p:cNvSpPr/>
          <p:nvPr/>
        </p:nvSpPr>
        <p:spPr>
          <a:xfrm>
            <a:off x="457200" y="685799"/>
            <a:ext cx="1371600" cy="45722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29" name="image-7-1.pdf" descr="image-7-1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3171" y="754926"/>
            <a:ext cx="7737658" cy="435243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0"/>
          <p:cNvSpPr/>
          <p:nvPr/>
        </p:nvSpPr>
        <p:spPr>
          <a:xfrm>
            <a:off x="274320" y="1005839"/>
            <a:ext cx="8595360" cy="3749042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Text 1"/>
          <p:cNvSpPr txBox="1"/>
          <p:nvPr/>
        </p:nvSpPr>
        <p:spPr>
          <a:xfrm>
            <a:off x="502919" y="326261"/>
            <a:ext cx="8138162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General OpenCL Host Flow</a:t>
            </a:r>
          </a:p>
        </p:txBody>
      </p:sp>
      <p:sp>
        <p:nvSpPr>
          <p:cNvPr id="135" name="Shape 2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Text 3"/>
          <p:cNvSpPr txBox="1"/>
          <p:nvPr/>
        </p:nvSpPr>
        <p:spPr>
          <a:xfrm>
            <a:off x="594360" y="134221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37" name="Text 4"/>
          <p:cNvSpPr txBox="1"/>
          <p:nvPr/>
        </p:nvSpPr>
        <p:spPr>
          <a:xfrm>
            <a:off x="960120" y="135846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The 6-step standard OpenCL host flow</a:t>
            </a:r>
          </a:p>
        </p:txBody>
      </p:sp>
      <p:sp>
        <p:nvSpPr>
          <p:cNvPr id="138" name="Text 5"/>
          <p:cNvSpPr txBox="1"/>
          <p:nvPr/>
        </p:nvSpPr>
        <p:spPr>
          <a:xfrm>
            <a:off x="594360" y="189085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39" name="Text 6"/>
          <p:cNvSpPr txBox="1"/>
          <p:nvPr/>
        </p:nvSpPr>
        <p:spPr>
          <a:xfrm>
            <a:off x="960120" y="190710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What the framework handles automatically</a:t>
            </a:r>
          </a:p>
        </p:txBody>
      </p:sp>
      <p:sp>
        <p:nvSpPr>
          <p:cNvPr id="140" name="Text 7"/>
          <p:cNvSpPr txBox="1"/>
          <p:nvPr/>
        </p:nvSpPr>
        <p:spPr>
          <a:xfrm>
            <a:off x="594360" y="243949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41" name="Text 8"/>
          <p:cNvSpPr txBox="1"/>
          <p:nvPr/>
        </p:nvSpPr>
        <p:spPr>
          <a:xfrm>
            <a:off x="960120" y="245574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Key timing: ~100ms compilation overhead</a:t>
            </a:r>
          </a:p>
        </p:txBody>
      </p:sp>
      <p:sp>
        <p:nvSpPr>
          <p:cNvPr id="142" name="Text 9"/>
          <p:cNvSpPr txBox="1"/>
          <p:nvPr/>
        </p:nvSpPr>
        <p:spPr>
          <a:xfrm>
            <a:off x="594360" y="298813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43" name="Text 10"/>
          <p:cNvSpPr txBox="1"/>
          <p:nvPr/>
        </p:nvSpPr>
        <p:spPr>
          <a:xfrm>
            <a:off x="960120" y="300438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Why this matters for iteration speed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0"/>
          <p:cNvSpPr txBox="1"/>
          <p:nvPr/>
        </p:nvSpPr>
        <p:spPr>
          <a:xfrm>
            <a:off x="502919" y="306685"/>
            <a:ext cx="8138162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400">
                <a:solidFill>
                  <a:srgbClr val="333333"/>
                </a:solidFill>
              </a:defRPr>
            </a:lvl1pPr>
          </a:lstStyle>
          <a:p>
            <a:pPr/>
            <a:r>
              <a:t>Standard OpenCL Host Flow</a:t>
            </a:r>
          </a:p>
        </p:txBody>
      </p:sp>
      <p:sp>
        <p:nvSpPr>
          <p:cNvPr id="148" name="Shape 1"/>
          <p:cNvSpPr/>
          <p:nvPr/>
        </p:nvSpPr>
        <p:spPr>
          <a:xfrm>
            <a:off x="457200" y="685799"/>
            <a:ext cx="1371600" cy="45722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49" name="opencl_host_flow.svg" descr="opencl_host_flow.sv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23305" y="770318"/>
            <a:ext cx="8497390" cy="47797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0"/>
          <p:cNvSpPr/>
          <p:nvPr/>
        </p:nvSpPr>
        <p:spPr>
          <a:xfrm>
            <a:off x="274320" y="1005839"/>
            <a:ext cx="8595360" cy="3749042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Text 1"/>
          <p:cNvSpPr txBox="1"/>
          <p:nvPr/>
        </p:nvSpPr>
        <p:spPr>
          <a:xfrm>
            <a:off x="502919" y="326261"/>
            <a:ext cx="8138162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Standard CL vs CL Extension</a:t>
            </a:r>
          </a:p>
        </p:txBody>
      </p:sp>
      <p:sp>
        <p:nvSpPr>
          <p:cNvPr id="155" name="Shape 2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Text 3"/>
          <p:cNvSpPr txBox="1"/>
          <p:nvPr/>
        </p:nvSpPr>
        <p:spPr>
          <a:xfrm>
            <a:off x="594360" y="134221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57" name="Text 4"/>
          <p:cNvSpPr txBox="1"/>
          <p:nvPr/>
        </p:nvSpPr>
        <p:spPr>
          <a:xfrm>
            <a:off x="960120" y="135846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Two platform types: Standard OpenCL and CL Extension</a:t>
            </a:r>
          </a:p>
        </p:txBody>
      </p:sp>
      <p:sp>
        <p:nvSpPr>
          <p:cNvPr id="158" name="Text 5"/>
          <p:cNvSpPr txBox="1"/>
          <p:nvPr/>
        </p:nvSpPr>
        <p:spPr>
          <a:xfrm>
            <a:off x="594360" y="189085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59" name="Text 6"/>
          <p:cNvSpPr txBox="1"/>
          <p:nvPr/>
        </p:nvSpPr>
        <p:spPr>
          <a:xfrm>
            <a:off x="960120" y="190710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Standard CL: Works on any GPU, great for development</a:t>
            </a:r>
          </a:p>
        </p:txBody>
      </p:sp>
      <p:sp>
        <p:nvSpPr>
          <p:cNvPr id="160" name="Text 7"/>
          <p:cNvSpPr txBox="1"/>
          <p:nvPr/>
        </p:nvSpPr>
        <p:spPr>
          <a:xfrm>
            <a:off x="594360" y="243949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61" name="Text 8"/>
          <p:cNvSpPr txBox="1"/>
          <p:nvPr/>
        </p:nvSpPr>
        <p:spPr>
          <a:xfrm>
            <a:off x="960120" y="245574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CL Extension: Vendor-optimized, maximum performance</a:t>
            </a:r>
          </a:p>
        </p:txBody>
      </p:sp>
      <p:sp>
        <p:nvSpPr>
          <p:cNvPr id="162" name="Text 9"/>
          <p:cNvSpPr txBox="1"/>
          <p:nvPr/>
        </p:nvSpPr>
        <p:spPr>
          <a:xfrm>
            <a:off x="594360" y="298813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163" name="Text 10"/>
          <p:cNvSpPr txBox="1"/>
          <p:nvPr/>
        </p:nvSpPr>
        <p:spPr>
          <a:xfrm>
            <a:off x="960120" y="300438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One-line config change to switch between them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 0"/>
          <p:cNvSpPr txBox="1"/>
          <p:nvPr/>
        </p:nvSpPr>
        <p:spPr>
          <a:xfrm>
            <a:off x="502919" y="306685"/>
            <a:ext cx="8138162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400">
                <a:solidFill>
                  <a:srgbClr val="333333"/>
                </a:solidFill>
              </a:defRPr>
            </a:lvl1pPr>
          </a:lstStyle>
          <a:p>
            <a:pPr/>
            <a:r>
              <a:t>Platform Branching</a:t>
            </a:r>
          </a:p>
        </p:txBody>
      </p:sp>
      <p:sp>
        <p:nvSpPr>
          <p:cNvPr id="168" name="Shape 1"/>
          <p:cNvSpPr/>
          <p:nvPr/>
        </p:nvSpPr>
        <p:spPr>
          <a:xfrm>
            <a:off x="457200" y="685799"/>
            <a:ext cx="1371600" cy="45722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69" name="platform_comparison_horizontal.svg" descr="platform_comparison_horizontal.sv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3562" y="805683"/>
            <a:ext cx="8016876" cy="450949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 0"/>
          <p:cNvSpPr txBox="1"/>
          <p:nvPr/>
        </p:nvSpPr>
        <p:spPr>
          <a:xfrm>
            <a:off x="502919" y="326261"/>
            <a:ext cx="8138162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Platform Configuration in JSON</a:t>
            </a:r>
          </a:p>
        </p:txBody>
      </p:sp>
      <p:sp>
        <p:nvSpPr>
          <p:cNvPr id="174" name="Shape 1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177" name="Text 2"/>
          <p:cNvGrpSpPr/>
          <p:nvPr/>
        </p:nvGrpSpPr>
        <p:grpSpPr>
          <a:xfrm>
            <a:off x="274320" y="1005839"/>
            <a:ext cx="3840480" cy="2560321"/>
            <a:chOff x="0" y="0"/>
            <a:chExt cx="3840479" cy="2560320"/>
          </a:xfrm>
        </p:grpSpPr>
        <p:sp>
          <p:nvSpPr>
            <p:cNvPr id="175" name="Rectangle"/>
            <p:cNvSpPr/>
            <p:nvPr/>
          </p:nvSpPr>
          <p:spPr>
            <a:xfrm>
              <a:off x="0" y="-1"/>
              <a:ext cx="3840480" cy="2560322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</a:p>
          </p:txBody>
        </p:sp>
        <p:sp>
          <p:nvSpPr>
            <p:cNvPr id="176" name="{…"/>
            <p:cNvSpPr txBox="1"/>
            <p:nvPr/>
          </p:nvSpPr>
          <p:spPr>
            <a:xfrm>
              <a:off x="45720" y="-1"/>
              <a:ext cx="3749040" cy="2072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1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{</a:t>
              </a:r>
            </a:p>
            <a:p>
              <a:pPr>
                <a:defRPr sz="11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"kernels": {</a:t>
              </a:r>
            </a:p>
            <a:p>
              <a:pPr>
                <a:defRPr sz="11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"v0": {</a:t>
              </a:r>
            </a:p>
            <a:p>
              <a:pPr>
                <a:defRPr sz="11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  "host_type": "standard",</a:t>
              </a:r>
            </a:p>
            <a:p>
              <a:pPr>
                <a:defRPr sz="11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  "kernel_file": "relu0.cl"</a:t>
              </a:r>
            </a:p>
            <a:p>
              <a:pPr>
                <a:defRPr sz="11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},</a:t>
              </a:r>
            </a:p>
            <a:p>
              <a:pPr>
                <a:defRPr sz="11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"v1": {</a:t>
              </a:r>
            </a:p>
            <a:p>
              <a:pPr>
                <a:defRPr sz="11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  "host_type": "cl_extension",</a:t>
              </a:r>
            </a:p>
            <a:p>
              <a:pPr>
                <a:defRPr sz="11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  "kernel_file": "relu1.cl"</a:t>
              </a:r>
            </a:p>
            <a:p>
              <a:pPr>
                <a:defRPr sz="11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}</a:t>
              </a:r>
            </a:p>
            <a:p>
              <a:pPr>
                <a:defRPr sz="11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}</a:t>
              </a:r>
            </a:p>
            <a:p>
              <a:pPr>
                <a:defRPr sz="11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}</a:t>
              </a:r>
            </a:p>
          </p:txBody>
        </p:sp>
      </p:grpSp>
      <p:sp>
        <p:nvSpPr>
          <p:cNvPr id="178" name="Text 3"/>
          <p:cNvSpPr txBox="1"/>
          <p:nvPr/>
        </p:nvSpPr>
        <p:spPr>
          <a:xfrm>
            <a:off x="4617719" y="1038423"/>
            <a:ext cx="40233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333333"/>
                </a:solidFill>
              </a:defRPr>
            </a:lvl1pPr>
          </a:lstStyle>
          <a:p>
            <a:pPr/>
            <a:r>
              <a:t>Key Benefits</a:t>
            </a:r>
          </a:p>
        </p:txBody>
      </p:sp>
      <p:sp>
        <p:nvSpPr>
          <p:cNvPr id="179" name="Text 4"/>
          <p:cNvSpPr txBox="1"/>
          <p:nvPr/>
        </p:nvSpPr>
        <p:spPr>
          <a:xfrm>
            <a:off x="4617719" y="1377949"/>
            <a:ext cx="182882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0" name="Text 5"/>
          <p:cNvSpPr txBox="1"/>
          <p:nvPr/>
        </p:nvSpPr>
        <p:spPr>
          <a:xfrm>
            <a:off x="4892040" y="1402519"/>
            <a:ext cx="374904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Runtime platform selection</a:t>
            </a:r>
          </a:p>
        </p:txBody>
      </p:sp>
      <p:sp>
        <p:nvSpPr>
          <p:cNvPr id="181" name="Text 6"/>
          <p:cNvSpPr txBox="1"/>
          <p:nvPr/>
        </p:nvSpPr>
        <p:spPr>
          <a:xfrm>
            <a:off x="4617719" y="1725422"/>
            <a:ext cx="182882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2" name="Text 7"/>
          <p:cNvSpPr txBox="1"/>
          <p:nvPr/>
        </p:nvSpPr>
        <p:spPr>
          <a:xfrm>
            <a:off x="4892040" y="1749991"/>
            <a:ext cx="374904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No code changes required</a:t>
            </a:r>
          </a:p>
        </p:txBody>
      </p:sp>
      <p:sp>
        <p:nvSpPr>
          <p:cNvPr id="183" name="Text 8"/>
          <p:cNvSpPr txBox="1"/>
          <p:nvPr/>
        </p:nvSpPr>
        <p:spPr>
          <a:xfrm>
            <a:off x="4617719" y="2072894"/>
            <a:ext cx="182882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4" name="Text 9"/>
          <p:cNvSpPr txBox="1"/>
          <p:nvPr/>
        </p:nvSpPr>
        <p:spPr>
          <a:xfrm>
            <a:off x="4892040" y="2097463"/>
            <a:ext cx="374904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No rebuild needed</a:t>
            </a:r>
          </a:p>
        </p:txBody>
      </p:sp>
      <p:sp>
        <p:nvSpPr>
          <p:cNvPr id="185" name="Text 10"/>
          <p:cNvSpPr txBox="1"/>
          <p:nvPr/>
        </p:nvSpPr>
        <p:spPr>
          <a:xfrm>
            <a:off x="4617719" y="2420366"/>
            <a:ext cx="182882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6" name="Text 11"/>
          <p:cNvSpPr txBox="1"/>
          <p:nvPr/>
        </p:nvSpPr>
        <p:spPr>
          <a:xfrm>
            <a:off x="4892040" y="2444935"/>
            <a:ext cx="374904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Switch with one line change</a:t>
            </a:r>
          </a:p>
        </p:txBody>
      </p:sp>
      <p:sp>
        <p:nvSpPr>
          <p:cNvPr id="187" name="Text 12"/>
          <p:cNvSpPr txBox="1"/>
          <p:nvPr/>
        </p:nvSpPr>
        <p:spPr>
          <a:xfrm>
            <a:off x="4617719" y="2767838"/>
            <a:ext cx="182882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8" name="Text 13"/>
          <p:cNvSpPr txBox="1"/>
          <p:nvPr/>
        </p:nvSpPr>
        <p:spPr>
          <a:xfrm>
            <a:off x="4892040" y="2792407"/>
            <a:ext cx="374904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Run both variants to compare</a:t>
            </a:r>
          </a:p>
        </p:txBody>
      </p:sp>
      <p:sp>
        <p:nvSpPr>
          <p:cNvPr id="189" name="Text 14"/>
          <p:cNvSpPr txBox="1"/>
          <p:nvPr/>
        </p:nvSpPr>
        <p:spPr>
          <a:xfrm>
            <a:off x="4617719" y="3115310"/>
            <a:ext cx="182882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0" name="Text 15"/>
          <p:cNvSpPr txBox="1"/>
          <p:nvPr/>
        </p:nvSpPr>
        <p:spPr>
          <a:xfrm>
            <a:off x="4892040" y="3139879"/>
            <a:ext cx="374904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Same kernel.cl works on both</a:t>
            </a:r>
          </a:p>
        </p:txBody>
      </p:sp>
      <p:sp>
        <p:nvSpPr>
          <p:cNvPr id="191" name="Shape 16"/>
          <p:cNvSpPr/>
          <p:nvPr/>
        </p:nvSpPr>
        <p:spPr>
          <a:xfrm>
            <a:off x="274320" y="3840479"/>
            <a:ext cx="8595360" cy="914401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2" name="Text 17"/>
          <p:cNvSpPr txBox="1"/>
          <p:nvPr/>
        </p:nvSpPr>
        <p:spPr>
          <a:xfrm>
            <a:off x="502919" y="4147383"/>
            <a:ext cx="81381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333333"/>
                </a:solidFill>
              </a:defRPr>
            </a:lvl1pPr>
          </a:lstStyle>
          <a:p>
            <a:pPr/>
            <a:r>
              <a:t>Easy to switch between Standard CL and CL Extension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0"/>
          <p:cNvSpPr/>
          <p:nvPr/>
        </p:nvSpPr>
        <p:spPr>
          <a:xfrm>
            <a:off x="274320" y="1005839"/>
            <a:ext cx="8595360" cy="3749042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Text 1"/>
          <p:cNvSpPr txBox="1"/>
          <p:nvPr/>
        </p:nvSpPr>
        <p:spPr>
          <a:xfrm>
            <a:off x="502919" y="326261"/>
            <a:ext cx="8138162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Caching Mechanism</a:t>
            </a:r>
          </a:p>
        </p:txBody>
      </p:sp>
      <p:sp>
        <p:nvSpPr>
          <p:cNvPr id="198" name="Shape 2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Text 3"/>
          <p:cNvSpPr txBox="1"/>
          <p:nvPr/>
        </p:nvSpPr>
        <p:spPr>
          <a:xfrm>
            <a:off x="594360" y="134221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00" name="Text 4"/>
          <p:cNvSpPr txBox="1"/>
          <p:nvPr/>
        </p:nvSpPr>
        <p:spPr>
          <a:xfrm>
            <a:off x="960120" y="135846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Binary caching eliminates repeated compilation</a:t>
            </a:r>
          </a:p>
        </p:txBody>
      </p:sp>
      <p:sp>
        <p:nvSpPr>
          <p:cNvPr id="201" name="Text 5"/>
          <p:cNvSpPr txBox="1"/>
          <p:nvPr/>
        </p:nvSpPr>
        <p:spPr>
          <a:xfrm>
            <a:off x="594360" y="189085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02" name="Text 6"/>
          <p:cNvSpPr txBox="1"/>
          <p:nvPr/>
        </p:nvSpPr>
        <p:spPr>
          <a:xfrm>
            <a:off x="960120" y="190710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Cache miss: First run compiles (~100ms), saves binary</a:t>
            </a:r>
          </a:p>
        </p:txBody>
      </p:sp>
      <p:sp>
        <p:nvSpPr>
          <p:cNvPr id="203" name="Text 7"/>
          <p:cNvSpPr txBox="1"/>
          <p:nvPr/>
        </p:nvSpPr>
        <p:spPr>
          <a:xfrm>
            <a:off x="594360" y="243949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04" name="Text 8"/>
          <p:cNvSpPr txBox="1"/>
          <p:nvPr/>
        </p:nvSpPr>
        <p:spPr>
          <a:xfrm>
            <a:off x="960120" y="245574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Cache hit: Load cached binary (~5ms) — 20x faster!</a:t>
            </a:r>
          </a:p>
        </p:txBody>
      </p:sp>
      <p:sp>
        <p:nvSpPr>
          <p:cNvPr id="205" name="Text 9"/>
          <p:cNvSpPr txBox="1"/>
          <p:nvPr/>
        </p:nvSpPr>
        <p:spPr>
          <a:xfrm>
            <a:off x="594360" y="298813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06" name="Text 10"/>
          <p:cNvSpPr txBox="1"/>
          <p:nvPr/>
        </p:nvSpPr>
        <p:spPr>
          <a:xfrm>
            <a:off x="960120" y="300438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Automatic invalidation when source changes (SHA256)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 0"/>
          <p:cNvSpPr txBox="1"/>
          <p:nvPr/>
        </p:nvSpPr>
        <p:spPr>
          <a:xfrm>
            <a:off x="502919" y="306685"/>
            <a:ext cx="8138162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400">
                <a:solidFill>
                  <a:srgbClr val="333333"/>
                </a:solidFill>
              </a:defRPr>
            </a:lvl1pPr>
          </a:lstStyle>
          <a:p>
            <a:pPr/>
            <a:r>
              <a:t>Binary Caching</a:t>
            </a:r>
          </a:p>
        </p:txBody>
      </p:sp>
      <p:sp>
        <p:nvSpPr>
          <p:cNvPr id="211" name="Shape 1"/>
          <p:cNvSpPr/>
          <p:nvPr/>
        </p:nvSpPr>
        <p:spPr>
          <a:xfrm>
            <a:off x="457200" y="685799"/>
            <a:ext cx="1371600" cy="45722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0"/>
          <p:cNvSpPr/>
          <p:nvPr/>
        </p:nvSpPr>
        <p:spPr>
          <a:xfrm>
            <a:off x="274320" y="1005839"/>
            <a:ext cx="8595360" cy="3749042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Text 1"/>
          <p:cNvSpPr txBox="1"/>
          <p:nvPr/>
        </p:nvSpPr>
        <p:spPr>
          <a:xfrm>
            <a:off x="502919" y="326261"/>
            <a:ext cx="8138162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JSON Configuration</a:t>
            </a:r>
          </a:p>
        </p:txBody>
      </p:sp>
      <p:sp>
        <p:nvSpPr>
          <p:cNvPr id="217" name="Shape 2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Text 3"/>
          <p:cNvSpPr txBox="1"/>
          <p:nvPr/>
        </p:nvSpPr>
        <p:spPr>
          <a:xfrm>
            <a:off x="594360" y="134221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19" name="Text 4"/>
          <p:cNvSpPr txBox="1"/>
          <p:nvPr/>
        </p:nvSpPr>
        <p:spPr>
          <a:xfrm>
            <a:off x="960120" y="135846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Configuration file structure in config/ directory</a:t>
            </a:r>
          </a:p>
        </p:txBody>
      </p:sp>
      <p:sp>
        <p:nvSpPr>
          <p:cNvPr id="220" name="Text 5"/>
          <p:cNvSpPr txBox="1"/>
          <p:nvPr/>
        </p:nvSpPr>
        <p:spPr>
          <a:xfrm>
            <a:off x="594360" y="189085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21" name="Text 6"/>
          <p:cNvSpPr txBox="1"/>
          <p:nvPr/>
        </p:nvSpPr>
        <p:spPr>
          <a:xfrm>
            <a:off x="960120" y="190710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Global inputs.json and algorithm-specific configs</a:t>
            </a:r>
          </a:p>
        </p:txBody>
      </p:sp>
      <p:sp>
        <p:nvSpPr>
          <p:cNvPr id="222" name="Text 7"/>
          <p:cNvSpPr txBox="1"/>
          <p:nvPr/>
        </p:nvSpPr>
        <p:spPr>
          <a:xfrm>
            <a:off x="594360" y="243949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23" name="Text 8"/>
          <p:cNvSpPr txBox="1"/>
          <p:nvPr/>
        </p:nvSpPr>
        <p:spPr>
          <a:xfrm>
            <a:off x="960120" y="245574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Complete kernel configuration with all parameters</a:t>
            </a:r>
          </a:p>
        </p:txBody>
      </p:sp>
      <p:sp>
        <p:nvSpPr>
          <p:cNvPr id="224" name="Text 9"/>
          <p:cNvSpPr txBox="1"/>
          <p:nvPr/>
        </p:nvSpPr>
        <p:spPr>
          <a:xfrm>
            <a:off x="594360" y="298813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25" name="Text 10"/>
          <p:cNvSpPr txBox="1"/>
          <p:nvPr/>
        </p:nvSpPr>
        <p:spPr>
          <a:xfrm>
            <a:off x="960120" y="300438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Six supported argument types for any kernel pattern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0"/>
          <p:cNvSpPr txBox="1"/>
          <p:nvPr/>
        </p:nvSpPr>
        <p:spPr>
          <a:xfrm>
            <a:off x="502919" y="326261"/>
            <a:ext cx="8138162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JSON Configuration Structure</a:t>
            </a:r>
          </a:p>
        </p:txBody>
      </p:sp>
      <p:sp>
        <p:nvSpPr>
          <p:cNvPr id="230" name="Shape 1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233" name="Text 2"/>
          <p:cNvGrpSpPr/>
          <p:nvPr/>
        </p:nvGrpSpPr>
        <p:grpSpPr>
          <a:xfrm>
            <a:off x="457200" y="1097280"/>
            <a:ext cx="4114800" cy="2286001"/>
            <a:chOff x="0" y="0"/>
            <a:chExt cx="4114800" cy="2286000"/>
          </a:xfrm>
        </p:grpSpPr>
        <p:sp>
          <p:nvSpPr>
            <p:cNvPr id="231" name="Rectangle"/>
            <p:cNvSpPr/>
            <p:nvPr/>
          </p:nvSpPr>
          <p:spPr>
            <a:xfrm>
              <a:off x="0" y="0"/>
              <a:ext cx="4114800" cy="2286000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/>
              </a:pPr>
            </a:p>
          </p:txBody>
        </p:sp>
        <p:sp>
          <p:nvSpPr>
            <p:cNvPr id="232" name="config/…"/>
            <p:cNvSpPr txBox="1"/>
            <p:nvPr/>
          </p:nvSpPr>
          <p:spPr>
            <a:xfrm>
              <a:off x="45719" y="0"/>
              <a:ext cx="4023362" cy="20566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2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config/</a:t>
              </a:r>
            </a:p>
            <a:p>
              <a:pPr>
                <a:defRPr sz="12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├── inputs.json       # Global input definitions</a:t>
              </a:r>
            </a:p>
            <a:p>
              <a:pPr>
                <a:defRPr sz="12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├── outputs.json      # Global output definitions</a:t>
              </a:r>
            </a:p>
            <a:p>
              <a:pPr>
                <a:defRPr sz="12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├── dilate3x3.json    # Algorithm-specific config</a:t>
              </a:r>
            </a:p>
            <a:p>
              <a:pPr>
                <a:defRPr sz="12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├── gaussian5x5.json</a:t>
              </a:r>
            </a:p>
            <a:p>
              <a:pPr>
                <a:defRPr sz="12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├── relu.json</a:t>
              </a:r>
            </a:p>
            <a:p>
              <a:pPr>
                <a:defRPr sz="12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└── template.json     # Template for new algorithms</a:t>
              </a:r>
            </a:p>
          </p:txBody>
        </p:sp>
      </p:grpSp>
      <p:sp>
        <p:nvSpPr>
          <p:cNvPr id="234" name="Text 3"/>
          <p:cNvSpPr txBox="1"/>
          <p:nvPr/>
        </p:nvSpPr>
        <p:spPr>
          <a:xfrm>
            <a:off x="4800599" y="1139760"/>
            <a:ext cx="38404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Relationship:</a:t>
            </a:r>
          </a:p>
        </p:txBody>
      </p:sp>
      <p:sp>
        <p:nvSpPr>
          <p:cNvPr id="235" name="Text 4"/>
          <p:cNvSpPr txBox="1"/>
          <p:nvPr/>
        </p:nvSpPr>
        <p:spPr>
          <a:xfrm>
            <a:off x="4800599" y="1925627"/>
            <a:ext cx="3840481" cy="629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inputs.json → Defines test images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{algo}.json → References inputs, defines kernels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Promotes reuse and consistency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 0"/>
          <p:cNvSpPr txBox="1"/>
          <p:nvPr/>
        </p:nvSpPr>
        <p:spPr>
          <a:xfrm>
            <a:off x="502919" y="326261"/>
            <a:ext cx="8138162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Kernel Configuration</a:t>
            </a:r>
          </a:p>
        </p:txBody>
      </p:sp>
      <p:sp>
        <p:nvSpPr>
          <p:cNvPr id="240" name="Shape 1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243" name="Text 2"/>
          <p:cNvGrpSpPr/>
          <p:nvPr/>
        </p:nvGrpSpPr>
        <p:grpSpPr>
          <a:xfrm>
            <a:off x="457200" y="1005840"/>
            <a:ext cx="8229600" cy="3840480"/>
            <a:chOff x="0" y="0"/>
            <a:chExt cx="8229600" cy="3840479"/>
          </a:xfrm>
        </p:grpSpPr>
        <p:sp>
          <p:nvSpPr>
            <p:cNvPr id="241" name="Rectangle"/>
            <p:cNvSpPr/>
            <p:nvPr/>
          </p:nvSpPr>
          <p:spPr>
            <a:xfrm>
              <a:off x="0" y="0"/>
              <a:ext cx="8229600" cy="3840480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100"/>
              </a:pPr>
            </a:p>
          </p:txBody>
        </p:sp>
        <p:sp>
          <p:nvSpPr>
            <p:cNvPr id="242" name="&quot;v0&quot;: {…"/>
            <p:cNvSpPr txBox="1"/>
            <p:nvPr/>
          </p:nvSpPr>
          <p:spPr>
            <a:xfrm>
              <a:off x="45719" y="0"/>
              <a:ext cx="8138162" cy="2567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1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"v0": {</a:t>
              </a:r>
            </a:p>
            <a:p>
              <a:pPr>
                <a:defRPr sz="11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"description": "standard with struct params",</a:t>
              </a:r>
            </a:p>
            <a:p>
              <a:pPr>
                <a:defRPr sz="11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"host_type": "standard",</a:t>
              </a:r>
            </a:p>
            <a:p>
              <a:pPr>
                <a:defRPr sz="11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"kernel_option": "-cl-fast-relaxed-math",</a:t>
              </a:r>
            </a:p>
            <a:p>
              <a:pPr>
                <a:defRPr sz="11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"kernel_file": "examples/relu/cl/relu0.cl",</a:t>
              </a:r>
            </a:p>
            <a:p>
              <a:pPr>
                <a:defRPr sz="11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"kernel_function": "relu",</a:t>
              </a:r>
            </a:p>
            <a:p>
              <a:pPr>
                <a:defRPr sz="11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"work_dim": 2,</a:t>
              </a:r>
            </a:p>
            <a:p>
              <a:pPr>
                <a:defRPr sz="11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"global_work_size": [1920, 1088],</a:t>
              </a:r>
            </a:p>
            <a:p>
              <a:pPr>
                <a:defRPr sz="11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"local_work_size": [16, 16],</a:t>
              </a:r>
            </a:p>
            <a:p>
              <a:pPr>
                <a:defRPr sz="11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"kernel_args": [</a:t>
              </a:r>
            </a:p>
            <a:p>
              <a:pPr>
                <a:defRPr sz="11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{"i_buffer": ["uchar", "src"]},</a:t>
              </a:r>
            </a:p>
            <a:p>
              <a:pPr>
                <a:defRPr sz="11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{"o_buffer": ["uchar", "dst"]},</a:t>
              </a:r>
            </a:p>
            <a:p>
              <a:pPr>
                <a:defRPr sz="11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{"param": ["int", "src_width"]}</a:t>
              </a:r>
            </a:p>
            <a:p>
              <a:pPr>
                <a:defRPr sz="11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]</a:t>
              </a:r>
            </a:p>
            <a:p>
              <a:pPr>
                <a:defRPr sz="11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}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 0"/>
          <p:cNvSpPr txBox="1"/>
          <p:nvPr/>
        </p:nvSpPr>
        <p:spPr>
          <a:xfrm>
            <a:off x="502919" y="326261"/>
            <a:ext cx="8138162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Supported Argument Types</a:t>
            </a:r>
          </a:p>
        </p:txBody>
      </p:sp>
      <p:sp>
        <p:nvSpPr>
          <p:cNvPr id="248" name="Shape 1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aphicFrame>
        <p:nvGraphicFramePr>
          <p:cNvPr id="249" name="Table 0"/>
          <p:cNvGraphicFramePr/>
          <p:nvPr/>
        </p:nvGraphicFramePr>
        <p:xfrm>
          <a:off x="457200" y="1005839"/>
          <a:ext cx="8229600" cy="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828800"/>
                <a:gridCol w="4114800"/>
                <a:gridCol w="2286000"/>
              </a:tblGrid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A9D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Syntax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A9D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Description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A9D1B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Input Buffer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{"i_buffer": ["uchar", "src"]}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Read-only image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Output Buffer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{"o_buffer": ["uchar", "dst"]}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Write-only result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Parameter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{"param": ["int", "width"]}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Auto from image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Scalar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{"scalar": ["float", "sigma"]}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Custom value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Custom Buffer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{"buffer": ["float", "wts", 100]}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User-defined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Struct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{"struct": ["a", "b", "c"]}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Packed scalars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ext 0"/>
          <p:cNvSpPr txBox="1"/>
          <p:nvPr/>
        </p:nvSpPr>
        <p:spPr>
          <a:xfrm>
            <a:off x="502919" y="326261"/>
            <a:ext cx="8138162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Part I Summary</a:t>
            </a:r>
          </a:p>
        </p:txBody>
      </p:sp>
      <p:sp>
        <p:nvSpPr>
          <p:cNvPr id="254" name="Shape 1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aphicFrame>
        <p:nvGraphicFramePr>
          <p:cNvPr id="255" name="Table 0"/>
          <p:cNvGraphicFramePr/>
          <p:nvPr/>
        </p:nvGraphicFramePr>
        <p:xfrm>
          <a:off x="457200" y="1005839"/>
          <a:ext cx="8229600" cy="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743200"/>
                <a:gridCol w="5486400"/>
              </a:tblGrid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A9D1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Key Points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A9D1B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/>
                        <a:t>Introduction / Features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/>
                        <a:t>Zero host code, JSON-driven configuration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/>
                        <a:t>OpenCL Host Flow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/>
                        <a:t>6-step flow handled by framework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/>
                        <a:t>Platform Options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/>
                        <a:t>Standard CL vs CL Extension — one-line switch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/>
                        <a:t>Caching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/>
                        <a:t>Binary caching: 100ms → 5ms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/>
                        <a:t>Configuration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/>
                        <a:t>JSON-based kernel and I/O setup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6" name="Text 2"/>
          <p:cNvSpPr txBox="1"/>
          <p:nvPr/>
        </p:nvSpPr>
        <p:spPr>
          <a:xfrm>
            <a:off x="502919" y="3918783"/>
            <a:ext cx="81381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FA9D1B"/>
                </a:solidFill>
              </a:defRPr>
            </a:lvl1pPr>
          </a:lstStyle>
          <a:p>
            <a:pPr/>
            <a:r>
              <a:t>Any questions before Part II?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 0"/>
          <p:cNvSpPr txBox="1"/>
          <p:nvPr/>
        </p:nvSpPr>
        <p:spPr>
          <a:xfrm>
            <a:off x="502919" y="326261"/>
            <a:ext cx="8138162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Agenda</a:t>
            </a:r>
          </a:p>
        </p:txBody>
      </p:sp>
      <p:sp>
        <p:nvSpPr>
          <p:cNvPr id="261" name="Shape 1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2" name="Text 2"/>
          <p:cNvSpPr txBox="1"/>
          <p:nvPr/>
        </p:nvSpPr>
        <p:spPr>
          <a:xfrm>
            <a:off x="502920" y="1159336"/>
            <a:ext cx="374904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AAAAAA"/>
                </a:solidFill>
              </a:defRPr>
            </a:lvl1pPr>
          </a:lstStyle>
          <a:p>
            <a:pPr/>
            <a:r>
              <a:t>Part I: OCLExample Introduction</a:t>
            </a:r>
          </a:p>
        </p:txBody>
      </p:sp>
      <p:sp>
        <p:nvSpPr>
          <p:cNvPr id="263" name="Text 3"/>
          <p:cNvSpPr txBox="1"/>
          <p:nvPr/>
        </p:nvSpPr>
        <p:spPr>
          <a:xfrm>
            <a:off x="685800" y="157410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64" name="Text 4"/>
          <p:cNvSpPr txBox="1"/>
          <p:nvPr/>
        </p:nvSpPr>
        <p:spPr>
          <a:xfrm>
            <a:off x="960120" y="1574100"/>
            <a:ext cx="32918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Introduction / Features</a:t>
            </a:r>
          </a:p>
        </p:txBody>
      </p:sp>
      <p:sp>
        <p:nvSpPr>
          <p:cNvPr id="265" name="Text 5"/>
          <p:cNvSpPr txBox="1"/>
          <p:nvPr/>
        </p:nvSpPr>
        <p:spPr>
          <a:xfrm>
            <a:off x="685800" y="193986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66" name="Text 6"/>
          <p:cNvSpPr txBox="1"/>
          <p:nvPr/>
        </p:nvSpPr>
        <p:spPr>
          <a:xfrm>
            <a:off x="960120" y="1939860"/>
            <a:ext cx="32918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General OpenCL Host Flow</a:t>
            </a:r>
          </a:p>
        </p:txBody>
      </p:sp>
      <p:sp>
        <p:nvSpPr>
          <p:cNvPr id="267" name="Text 7"/>
          <p:cNvSpPr txBox="1"/>
          <p:nvPr/>
        </p:nvSpPr>
        <p:spPr>
          <a:xfrm>
            <a:off x="685800" y="230562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68" name="Text 8"/>
          <p:cNvSpPr txBox="1"/>
          <p:nvPr/>
        </p:nvSpPr>
        <p:spPr>
          <a:xfrm>
            <a:off x="960120" y="2305620"/>
            <a:ext cx="32918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Standard CL vs CL Extension</a:t>
            </a:r>
          </a:p>
        </p:txBody>
      </p:sp>
      <p:sp>
        <p:nvSpPr>
          <p:cNvPr id="269" name="Text 9"/>
          <p:cNvSpPr txBox="1"/>
          <p:nvPr/>
        </p:nvSpPr>
        <p:spPr>
          <a:xfrm>
            <a:off x="685800" y="267138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70" name="Text 10"/>
          <p:cNvSpPr txBox="1"/>
          <p:nvPr/>
        </p:nvSpPr>
        <p:spPr>
          <a:xfrm>
            <a:off x="960120" y="2671380"/>
            <a:ext cx="32918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Caching Mechanism</a:t>
            </a:r>
          </a:p>
        </p:txBody>
      </p:sp>
      <p:sp>
        <p:nvSpPr>
          <p:cNvPr id="271" name="Text 11"/>
          <p:cNvSpPr txBox="1"/>
          <p:nvPr/>
        </p:nvSpPr>
        <p:spPr>
          <a:xfrm>
            <a:off x="685800" y="303714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72" name="Text 12"/>
          <p:cNvSpPr txBox="1"/>
          <p:nvPr/>
        </p:nvSpPr>
        <p:spPr>
          <a:xfrm>
            <a:off x="960120" y="3037140"/>
            <a:ext cx="329184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AAAAAA"/>
                </a:solidFill>
              </a:defRPr>
            </a:lvl1pPr>
          </a:lstStyle>
          <a:p>
            <a:pPr/>
            <a:r>
              <a:t>JSON Configuration</a:t>
            </a:r>
          </a:p>
        </p:txBody>
      </p:sp>
      <p:sp>
        <p:nvSpPr>
          <p:cNvPr id="273" name="Text 13"/>
          <p:cNvSpPr txBox="1"/>
          <p:nvPr/>
        </p:nvSpPr>
        <p:spPr>
          <a:xfrm>
            <a:off x="4800599" y="1159336"/>
            <a:ext cx="38404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Part II: Two-Phase Architecture</a:t>
            </a:r>
          </a:p>
        </p:txBody>
      </p:sp>
      <p:sp>
        <p:nvSpPr>
          <p:cNvPr id="274" name="Text 14"/>
          <p:cNvSpPr txBox="1"/>
          <p:nvPr/>
        </p:nvSpPr>
        <p:spPr>
          <a:xfrm>
            <a:off x="4983479" y="157410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75" name="Text 15"/>
          <p:cNvSpPr txBox="1"/>
          <p:nvPr/>
        </p:nvSpPr>
        <p:spPr>
          <a:xfrm>
            <a:off x="5257799" y="1574100"/>
            <a:ext cx="33832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Recap</a:t>
            </a:r>
          </a:p>
        </p:txBody>
      </p:sp>
      <p:sp>
        <p:nvSpPr>
          <p:cNvPr id="276" name="Text 16"/>
          <p:cNvSpPr txBox="1"/>
          <p:nvPr/>
        </p:nvSpPr>
        <p:spPr>
          <a:xfrm>
            <a:off x="4983479" y="193986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77" name="Text 17"/>
          <p:cNvSpPr txBox="1"/>
          <p:nvPr/>
        </p:nvSpPr>
        <p:spPr>
          <a:xfrm>
            <a:off x="5257799" y="1939860"/>
            <a:ext cx="33832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Why Two-Phase Architecture</a:t>
            </a:r>
          </a:p>
        </p:txBody>
      </p:sp>
      <p:sp>
        <p:nvSpPr>
          <p:cNvPr id="278" name="Text 18"/>
          <p:cNvSpPr txBox="1"/>
          <p:nvPr/>
        </p:nvSpPr>
        <p:spPr>
          <a:xfrm>
            <a:off x="4983479" y="230562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79" name="Text 19"/>
          <p:cNvSpPr txBox="1"/>
          <p:nvPr/>
        </p:nvSpPr>
        <p:spPr>
          <a:xfrm>
            <a:off x="5257799" y="2305620"/>
            <a:ext cx="33832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Compilation Phase</a:t>
            </a:r>
          </a:p>
        </p:txBody>
      </p:sp>
      <p:sp>
        <p:nvSpPr>
          <p:cNvPr id="280" name="Text 20"/>
          <p:cNvSpPr txBox="1"/>
          <p:nvPr/>
        </p:nvSpPr>
        <p:spPr>
          <a:xfrm>
            <a:off x="4983479" y="267138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81" name="Text 21"/>
          <p:cNvSpPr txBox="1"/>
          <p:nvPr/>
        </p:nvSpPr>
        <p:spPr>
          <a:xfrm>
            <a:off x="5257799" y="2671380"/>
            <a:ext cx="33832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Execution Phase</a:t>
            </a:r>
          </a:p>
        </p:txBody>
      </p:sp>
      <p:sp>
        <p:nvSpPr>
          <p:cNvPr id="282" name="Text 22"/>
          <p:cNvSpPr txBox="1"/>
          <p:nvPr/>
        </p:nvSpPr>
        <p:spPr>
          <a:xfrm>
            <a:off x="4983479" y="303714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83" name="Text 23"/>
          <p:cNvSpPr txBox="1"/>
          <p:nvPr/>
        </p:nvSpPr>
        <p:spPr>
          <a:xfrm>
            <a:off x="5257799" y="3037140"/>
            <a:ext cx="33832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Cross-Platform Deployment</a:t>
            </a:r>
          </a:p>
        </p:txBody>
      </p:sp>
      <p:sp>
        <p:nvSpPr>
          <p:cNvPr id="284" name="Text 24"/>
          <p:cNvSpPr txBox="1"/>
          <p:nvPr/>
        </p:nvSpPr>
        <p:spPr>
          <a:xfrm>
            <a:off x="4983479" y="3402900"/>
            <a:ext cx="1828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285" name="Text 25"/>
          <p:cNvSpPr txBox="1"/>
          <p:nvPr/>
        </p:nvSpPr>
        <p:spPr>
          <a:xfrm>
            <a:off x="5257799" y="3402900"/>
            <a:ext cx="33832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FA9D1B"/>
                </a:solidFill>
              </a:defRPr>
            </a:lvl1pPr>
          </a:lstStyle>
          <a:p>
            <a:pPr/>
            <a:r>
              <a:t>Summary &amp; Q&amp;A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ext 0"/>
          <p:cNvSpPr txBox="1"/>
          <p:nvPr/>
        </p:nvSpPr>
        <p:spPr>
          <a:xfrm>
            <a:off x="502919" y="326261"/>
            <a:ext cx="8138162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Part I Recap</a:t>
            </a:r>
          </a:p>
        </p:txBody>
      </p:sp>
      <p:sp>
        <p:nvSpPr>
          <p:cNvPr id="290" name="Shape 1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1" name="Shape 2"/>
          <p:cNvSpPr/>
          <p:nvPr/>
        </p:nvSpPr>
        <p:spPr>
          <a:xfrm>
            <a:off x="457199" y="1097280"/>
            <a:ext cx="4023361" cy="1005840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2" name="Text 3"/>
          <p:cNvSpPr txBox="1"/>
          <p:nvPr/>
        </p:nvSpPr>
        <p:spPr>
          <a:xfrm>
            <a:off x="685800" y="1322640"/>
            <a:ext cx="3566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Framework Benefits</a:t>
            </a:r>
          </a:p>
        </p:txBody>
      </p:sp>
      <p:sp>
        <p:nvSpPr>
          <p:cNvPr id="293" name="Text 4"/>
          <p:cNvSpPr txBox="1"/>
          <p:nvPr/>
        </p:nvSpPr>
        <p:spPr>
          <a:xfrm>
            <a:off x="685800" y="1704647"/>
            <a:ext cx="35661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666666"/>
                </a:solidFill>
              </a:defRPr>
            </a:lvl1pPr>
          </a:lstStyle>
          <a:p>
            <a:pPr/>
            <a:r>
              <a:t>Zero host code, JSON-driven</a:t>
            </a:r>
          </a:p>
        </p:txBody>
      </p:sp>
      <p:sp>
        <p:nvSpPr>
          <p:cNvPr id="294" name="Shape 5"/>
          <p:cNvSpPr/>
          <p:nvPr/>
        </p:nvSpPr>
        <p:spPr>
          <a:xfrm>
            <a:off x="4754879" y="1097280"/>
            <a:ext cx="4023360" cy="1005840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Text 6"/>
          <p:cNvSpPr txBox="1"/>
          <p:nvPr/>
        </p:nvSpPr>
        <p:spPr>
          <a:xfrm>
            <a:off x="4983479" y="1322640"/>
            <a:ext cx="3566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User Journey</a:t>
            </a:r>
          </a:p>
        </p:txBody>
      </p:sp>
      <p:sp>
        <p:nvSpPr>
          <p:cNvPr id="296" name="Text 7"/>
          <p:cNvSpPr txBox="1"/>
          <p:nvPr/>
        </p:nvSpPr>
        <p:spPr>
          <a:xfrm>
            <a:off x="4983479" y="1704647"/>
            <a:ext cx="35661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666666"/>
                </a:solidFill>
              </a:defRPr>
            </a:lvl1pPr>
          </a:lstStyle>
          <a:p>
            <a:pPr/>
            <a:r>
              <a:t>Build → Run → Learn</a:t>
            </a:r>
          </a:p>
        </p:txBody>
      </p:sp>
      <p:sp>
        <p:nvSpPr>
          <p:cNvPr id="297" name="Shape 8"/>
          <p:cNvSpPr/>
          <p:nvPr/>
        </p:nvSpPr>
        <p:spPr>
          <a:xfrm>
            <a:off x="457199" y="2286000"/>
            <a:ext cx="4023361" cy="1005839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8" name="Text 9"/>
          <p:cNvSpPr txBox="1"/>
          <p:nvPr/>
        </p:nvSpPr>
        <p:spPr>
          <a:xfrm>
            <a:off x="685800" y="2511360"/>
            <a:ext cx="3566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Platform Options</a:t>
            </a:r>
          </a:p>
        </p:txBody>
      </p:sp>
      <p:sp>
        <p:nvSpPr>
          <p:cNvPr id="299" name="Text 10"/>
          <p:cNvSpPr txBox="1"/>
          <p:nvPr/>
        </p:nvSpPr>
        <p:spPr>
          <a:xfrm>
            <a:off x="685800" y="2893367"/>
            <a:ext cx="35661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666666"/>
                </a:solidFill>
              </a:defRPr>
            </a:lvl1pPr>
          </a:lstStyle>
          <a:p>
            <a:pPr/>
            <a:r>
              <a:t>Standard CL vs CL Extension</a:t>
            </a:r>
          </a:p>
        </p:txBody>
      </p:sp>
      <p:sp>
        <p:nvSpPr>
          <p:cNvPr id="300" name="Shape 11"/>
          <p:cNvSpPr/>
          <p:nvPr/>
        </p:nvSpPr>
        <p:spPr>
          <a:xfrm>
            <a:off x="4754879" y="2286000"/>
            <a:ext cx="4023360" cy="1005839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1" name="Text 12"/>
          <p:cNvSpPr txBox="1"/>
          <p:nvPr/>
        </p:nvSpPr>
        <p:spPr>
          <a:xfrm>
            <a:off x="4983479" y="2511360"/>
            <a:ext cx="35661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JSON Configuration</a:t>
            </a:r>
          </a:p>
        </p:txBody>
      </p:sp>
      <p:sp>
        <p:nvSpPr>
          <p:cNvPr id="302" name="Text 13"/>
          <p:cNvSpPr txBox="1"/>
          <p:nvPr/>
        </p:nvSpPr>
        <p:spPr>
          <a:xfrm>
            <a:off x="4983479" y="2893367"/>
            <a:ext cx="35661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666666"/>
                </a:solidFill>
              </a:defRPr>
            </a:lvl1pPr>
          </a:lstStyle>
          <a:p>
            <a:pPr/>
            <a:r>
              <a:t>Kernel config, I/O setup</a:t>
            </a:r>
          </a:p>
        </p:txBody>
      </p:sp>
      <p:sp>
        <p:nvSpPr>
          <p:cNvPr id="303" name="Shape 14"/>
          <p:cNvSpPr/>
          <p:nvPr/>
        </p:nvSpPr>
        <p:spPr>
          <a:xfrm>
            <a:off x="457200" y="3657599"/>
            <a:ext cx="8229600" cy="1097282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4" name="Text 15"/>
          <p:cNvSpPr txBox="1"/>
          <p:nvPr/>
        </p:nvSpPr>
        <p:spPr>
          <a:xfrm>
            <a:off x="685799" y="4039696"/>
            <a:ext cx="7772402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333333"/>
                </a:solidFill>
              </a:defRPr>
            </a:lvl1pPr>
          </a:lstStyle>
          <a:p>
            <a:pPr/>
            <a:r>
              <a:t>Now: How we split the host into two phases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0"/>
          <p:cNvSpPr/>
          <p:nvPr/>
        </p:nvSpPr>
        <p:spPr>
          <a:xfrm>
            <a:off x="274320" y="1005839"/>
            <a:ext cx="8595360" cy="3749042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9" name="Text 1"/>
          <p:cNvSpPr txBox="1"/>
          <p:nvPr/>
        </p:nvSpPr>
        <p:spPr>
          <a:xfrm>
            <a:off x="502919" y="326261"/>
            <a:ext cx="8138162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Why Two-Phase Architecture</a:t>
            </a:r>
          </a:p>
        </p:txBody>
      </p:sp>
      <p:sp>
        <p:nvSpPr>
          <p:cNvPr id="310" name="Shape 2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1" name="Text 3"/>
          <p:cNvSpPr txBox="1"/>
          <p:nvPr/>
        </p:nvSpPr>
        <p:spPr>
          <a:xfrm>
            <a:off x="594360" y="134221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12" name="Text 4"/>
          <p:cNvSpPr txBox="1"/>
          <p:nvPr/>
        </p:nvSpPr>
        <p:spPr>
          <a:xfrm>
            <a:off x="960120" y="135846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Problem: Every run recompiles kernel (~100ms overhead)</a:t>
            </a:r>
          </a:p>
        </p:txBody>
      </p:sp>
      <p:sp>
        <p:nvSpPr>
          <p:cNvPr id="313" name="Text 5"/>
          <p:cNvSpPr txBox="1"/>
          <p:nvPr/>
        </p:nvSpPr>
        <p:spPr>
          <a:xfrm>
            <a:off x="594360" y="189085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14" name="Text 6"/>
          <p:cNvSpPr txBox="1"/>
          <p:nvPr/>
        </p:nvSpPr>
        <p:spPr>
          <a:xfrm>
            <a:off x="960120" y="190710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Problem: Source code must be present on target device</a:t>
            </a:r>
          </a:p>
        </p:txBody>
      </p:sp>
      <p:sp>
        <p:nvSpPr>
          <p:cNvPr id="315" name="Text 7"/>
          <p:cNvSpPr txBox="1"/>
          <p:nvPr/>
        </p:nvSpPr>
        <p:spPr>
          <a:xfrm>
            <a:off x="594360" y="243949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16" name="Text 8"/>
          <p:cNvSpPr txBox="1"/>
          <p:nvPr/>
        </p:nvSpPr>
        <p:spPr>
          <a:xfrm>
            <a:off x="960120" y="245574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Problem: Can't pre-compile for different devices</a:t>
            </a:r>
          </a:p>
        </p:txBody>
      </p:sp>
      <p:sp>
        <p:nvSpPr>
          <p:cNvPr id="317" name="Text 9"/>
          <p:cNvSpPr txBox="1"/>
          <p:nvPr/>
        </p:nvSpPr>
        <p:spPr>
          <a:xfrm>
            <a:off x="594360" y="298813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18" name="Text 10"/>
          <p:cNvSpPr txBox="1"/>
          <p:nvPr/>
        </p:nvSpPr>
        <p:spPr>
          <a:xfrm>
            <a:off x="960120" y="300438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Solution: Split into Compilation + Execution phases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ext 0"/>
          <p:cNvSpPr txBox="1"/>
          <p:nvPr/>
        </p:nvSpPr>
        <p:spPr>
          <a:xfrm>
            <a:off x="502919" y="326261"/>
            <a:ext cx="8138162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The Problem with Monolithic Flow</a:t>
            </a:r>
          </a:p>
        </p:txBody>
      </p:sp>
      <p:sp>
        <p:nvSpPr>
          <p:cNvPr id="323" name="Shape 1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4" name="Text 2"/>
          <p:cNvSpPr txBox="1"/>
          <p:nvPr/>
        </p:nvSpPr>
        <p:spPr>
          <a:xfrm>
            <a:off x="594360" y="1244599"/>
            <a:ext cx="18288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E53935"/>
                </a:solidFill>
              </a:defRPr>
            </a:lvl1pPr>
          </a:lstStyle>
          <a:p>
            <a:pPr/>
            <a:r>
              <a:t>✗</a:t>
            </a:r>
          </a:p>
        </p:txBody>
      </p:sp>
      <p:sp>
        <p:nvSpPr>
          <p:cNvPr id="325" name="Text 3"/>
          <p:cNvSpPr txBox="1"/>
          <p:nvPr/>
        </p:nvSpPr>
        <p:spPr>
          <a:xfrm>
            <a:off x="960119" y="1267023"/>
            <a:ext cx="72237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Every run recompiles kernel (~100ms overhead)</a:t>
            </a:r>
          </a:p>
        </p:txBody>
      </p:sp>
      <p:sp>
        <p:nvSpPr>
          <p:cNvPr id="326" name="Text 4"/>
          <p:cNvSpPr txBox="1"/>
          <p:nvPr/>
        </p:nvSpPr>
        <p:spPr>
          <a:xfrm>
            <a:off x="594360" y="1793240"/>
            <a:ext cx="18288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E53935"/>
                </a:solidFill>
              </a:defRPr>
            </a:lvl1pPr>
          </a:lstStyle>
          <a:p>
            <a:pPr/>
            <a:r>
              <a:t>✗</a:t>
            </a:r>
          </a:p>
        </p:txBody>
      </p:sp>
      <p:sp>
        <p:nvSpPr>
          <p:cNvPr id="327" name="Text 5"/>
          <p:cNvSpPr txBox="1"/>
          <p:nvPr/>
        </p:nvSpPr>
        <p:spPr>
          <a:xfrm>
            <a:off x="960119" y="1815663"/>
            <a:ext cx="72237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Source code must be present on target</a:t>
            </a:r>
          </a:p>
        </p:txBody>
      </p:sp>
      <p:sp>
        <p:nvSpPr>
          <p:cNvPr id="328" name="Text 6"/>
          <p:cNvSpPr txBox="1"/>
          <p:nvPr/>
        </p:nvSpPr>
        <p:spPr>
          <a:xfrm>
            <a:off x="594360" y="2341879"/>
            <a:ext cx="18288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E53935"/>
                </a:solidFill>
              </a:defRPr>
            </a:lvl1pPr>
          </a:lstStyle>
          <a:p>
            <a:pPr/>
            <a:r>
              <a:t>✗</a:t>
            </a:r>
          </a:p>
        </p:txBody>
      </p:sp>
      <p:sp>
        <p:nvSpPr>
          <p:cNvPr id="329" name="Text 7"/>
          <p:cNvSpPr txBox="1"/>
          <p:nvPr/>
        </p:nvSpPr>
        <p:spPr>
          <a:xfrm>
            <a:off x="960119" y="2364303"/>
            <a:ext cx="72237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Can't pre-compile for different devices</a:t>
            </a:r>
          </a:p>
        </p:txBody>
      </p:sp>
      <p:sp>
        <p:nvSpPr>
          <p:cNvPr id="330" name="Text 8"/>
          <p:cNvSpPr txBox="1"/>
          <p:nvPr/>
        </p:nvSpPr>
        <p:spPr>
          <a:xfrm>
            <a:off x="594360" y="2890519"/>
            <a:ext cx="18288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E53935"/>
                </a:solidFill>
              </a:defRPr>
            </a:lvl1pPr>
          </a:lstStyle>
          <a:p>
            <a:pPr/>
            <a:r>
              <a:t>✗</a:t>
            </a:r>
          </a:p>
        </p:txBody>
      </p:sp>
      <p:sp>
        <p:nvSpPr>
          <p:cNvPr id="331" name="Text 9"/>
          <p:cNvSpPr txBox="1"/>
          <p:nvPr/>
        </p:nvSpPr>
        <p:spPr>
          <a:xfrm>
            <a:off x="960119" y="2912943"/>
            <a:ext cx="72237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No binary distribution possible</a:t>
            </a:r>
          </a:p>
        </p:txBody>
      </p:sp>
      <p:sp>
        <p:nvSpPr>
          <p:cNvPr id="332" name="Shape 10"/>
          <p:cNvSpPr/>
          <p:nvPr/>
        </p:nvSpPr>
        <p:spPr>
          <a:xfrm>
            <a:off x="457200" y="3657599"/>
            <a:ext cx="8229600" cy="1097282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3" name="Text 11"/>
          <p:cNvSpPr txBox="1"/>
          <p:nvPr/>
        </p:nvSpPr>
        <p:spPr>
          <a:xfrm>
            <a:off x="685799" y="4039696"/>
            <a:ext cx="7772402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333333"/>
                </a:solidFill>
              </a:defRPr>
            </a:lvl1pPr>
          </a:lstStyle>
          <a:p>
            <a:pPr/>
            <a:r>
              <a:t>Solution: Split into Compilation + Execution phases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Shape 0"/>
          <p:cNvSpPr/>
          <p:nvPr/>
        </p:nvSpPr>
        <p:spPr>
          <a:xfrm>
            <a:off x="274320" y="1005839"/>
            <a:ext cx="8595360" cy="3749042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8" name="Text 1"/>
          <p:cNvSpPr txBox="1"/>
          <p:nvPr/>
        </p:nvSpPr>
        <p:spPr>
          <a:xfrm>
            <a:off x="502919" y="326261"/>
            <a:ext cx="8138162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Compilation Phase</a:t>
            </a:r>
          </a:p>
        </p:txBody>
      </p:sp>
      <p:sp>
        <p:nvSpPr>
          <p:cNvPr id="339" name="Shape 2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0" name="Text 3"/>
          <p:cNvSpPr txBox="1"/>
          <p:nvPr/>
        </p:nvSpPr>
        <p:spPr>
          <a:xfrm>
            <a:off x="594360" y="134221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41" name="Text 4"/>
          <p:cNvSpPr txBox="1"/>
          <p:nvPr/>
        </p:nvSpPr>
        <p:spPr>
          <a:xfrm>
            <a:off x="960120" y="135846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Runs once on Linux development machine</a:t>
            </a:r>
          </a:p>
        </p:txBody>
      </p:sp>
      <p:sp>
        <p:nvSpPr>
          <p:cNvPr id="342" name="Text 5"/>
          <p:cNvSpPr txBox="1"/>
          <p:nvPr/>
        </p:nvSpPr>
        <p:spPr>
          <a:xfrm>
            <a:off x="594360" y="189085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43" name="Text 6"/>
          <p:cNvSpPr txBox="1"/>
          <p:nvPr/>
        </p:nvSpPr>
        <p:spPr>
          <a:xfrm>
            <a:off x="960120" y="190710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Input: kernel.cl source + config.json</a:t>
            </a:r>
          </a:p>
        </p:txBody>
      </p:sp>
      <p:sp>
        <p:nvSpPr>
          <p:cNvPr id="344" name="Text 7"/>
          <p:cNvSpPr txBox="1"/>
          <p:nvPr/>
        </p:nvSpPr>
        <p:spPr>
          <a:xfrm>
            <a:off x="594360" y="243949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45" name="Text 8"/>
          <p:cNvSpPr txBox="1"/>
          <p:nvPr/>
        </p:nvSpPr>
        <p:spPr>
          <a:xfrm>
            <a:off x="960120" y="245574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Output: kernel.bin (compiled) + opencl_host (executor)</a:t>
            </a:r>
          </a:p>
        </p:txBody>
      </p:sp>
      <p:sp>
        <p:nvSpPr>
          <p:cNvPr id="346" name="Text 9"/>
          <p:cNvSpPr txBox="1"/>
          <p:nvPr/>
        </p:nvSpPr>
        <p:spPr>
          <a:xfrm>
            <a:off x="594360" y="298813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47" name="Text 10"/>
          <p:cNvSpPr txBox="1"/>
          <p:nvPr/>
        </p:nvSpPr>
        <p:spPr>
          <a:xfrm>
            <a:off x="960120" y="300438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kernel.bin includes metadata for target device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Text 0"/>
          <p:cNvSpPr txBox="1"/>
          <p:nvPr/>
        </p:nvSpPr>
        <p:spPr>
          <a:xfrm>
            <a:off x="502919" y="306685"/>
            <a:ext cx="8138162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400">
                <a:solidFill>
                  <a:srgbClr val="333333"/>
                </a:solidFill>
              </a:defRPr>
            </a:lvl1pPr>
          </a:lstStyle>
          <a:p>
            <a:pPr/>
            <a:r>
              <a:t>Two-Phase Architecture</a:t>
            </a:r>
          </a:p>
        </p:txBody>
      </p:sp>
      <p:sp>
        <p:nvSpPr>
          <p:cNvPr id="352" name="Shape 1"/>
          <p:cNvSpPr/>
          <p:nvPr/>
        </p:nvSpPr>
        <p:spPr>
          <a:xfrm>
            <a:off x="457200" y="685799"/>
            <a:ext cx="1371600" cy="45722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53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74320" y="868680"/>
            <a:ext cx="8595360" cy="41148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Text 0"/>
          <p:cNvSpPr txBox="1"/>
          <p:nvPr/>
        </p:nvSpPr>
        <p:spPr>
          <a:xfrm>
            <a:off x="502919" y="326261"/>
            <a:ext cx="8138162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Compilation Phase</a:t>
            </a:r>
          </a:p>
        </p:txBody>
      </p:sp>
      <p:sp>
        <p:nvSpPr>
          <p:cNvPr id="358" name="Shape 1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9" name="Text 2"/>
          <p:cNvSpPr txBox="1"/>
          <p:nvPr/>
        </p:nvSpPr>
        <p:spPr>
          <a:xfrm>
            <a:off x="502919" y="1048320"/>
            <a:ext cx="81381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666666"/>
                </a:solidFill>
              </a:defRPr>
            </a:lvl1pPr>
          </a:lstStyle>
          <a:p>
            <a:pPr/>
            <a:r>
              <a:t>Purpose: Convert source + config into deployment-ready binaries</a:t>
            </a:r>
          </a:p>
        </p:txBody>
      </p:sp>
      <p:sp>
        <p:nvSpPr>
          <p:cNvPr id="360" name="Shape 3"/>
          <p:cNvSpPr/>
          <p:nvPr/>
        </p:nvSpPr>
        <p:spPr>
          <a:xfrm>
            <a:off x="457199" y="1463039"/>
            <a:ext cx="3931922" cy="1645921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1" name="Text 4"/>
          <p:cNvSpPr txBox="1"/>
          <p:nvPr/>
        </p:nvSpPr>
        <p:spPr>
          <a:xfrm>
            <a:off x="685799" y="1596960"/>
            <a:ext cx="34747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Inputs</a:t>
            </a:r>
          </a:p>
        </p:txBody>
      </p:sp>
      <p:sp>
        <p:nvSpPr>
          <p:cNvPr id="362" name="Text 5"/>
          <p:cNvSpPr txBox="1"/>
          <p:nvPr/>
        </p:nvSpPr>
        <p:spPr>
          <a:xfrm>
            <a:off x="685799" y="2249477"/>
            <a:ext cx="3474721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kernel.cl — Source code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config.json — Configuration</a:t>
            </a:r>
          </a:p>
        </p:txBody>
      </p:sp>
      <p:sp>
        <p:nvSpPr>
          <p:cNvPr id="363" name="Shape 6"/>
          <p:cNvSpPr/>
          <p:nvPr/>
        </p:nvSpPr>
        <p:spPr>
          <a:xfrm>
            <a:off x="4754879" y="1463039"/>
            <a:ext cx="3931921" cy="1645921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4" name="Text 7"/>
          <p:cNvSpPr txBox="1"/>
          <p:nvPr/>
        </p:nvSpPr>
        <p:spPr>
          <a:xfrm>
            <a:off x="4983479" y="1596960"/>
            <a:ext cx="347472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Outputs</a:t>
            </a:r>
          </a:p>
        </p:txBody>
      </p:sp>
      <p:sp>
        <p:nvSpPr>
          <p:cNvPr id="365" name="Text 8"/>
          <p:cNvSpPr txBox="1"/>
          <p:nvPr/>
        </p:nvSpPr>
        <p:spPr>
          <a:xfrm>
            <a:off x="4983479" y="2249477"/>
            <a:ext cx="3474720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kernel.bin — Compiled binary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opencl_host — Android executable</a:t>
            </a:r>
          </a:p>
        </p:txBody>
      </p:sp>
      <p:sp>
        <p:nvSpPr>
          <p:cNvPr id="366" name="Text 9"/>
          <p:cNvSpPr txBox="1"/>
          <p:nvPr/>
        </p:nvSpPr>
        <p:spPr>
          <a:xfrm>
            <a:off x="502919" y="3425760"/>
            <a:ext cx="81381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kernel.bin contains:</a:t>
            </a:r>
          </a:p>
        </p:txBody>
      </p:sp>
      <p:sp>
        <p:nvSpPr>
          <p:cNvPr id="367" name="Text 10"/>
          <p:cNvSpPr txBox="1"/>
          <p:nvPr/>
        </p:nvSpPr>
        <p:spPr>
          <a:xfrm>
            <a:off x="502919" y="3983027"/>
            <a:ext cx="8138162" cy="629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Compiled kernel binary (device-specific)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Metadata (device name, OpenCL version)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Compile options used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Shape 0"/>
          <p:cNvSpPr/>
          <p:nvPr/>
        </p:nvSpPr>
        <p:spPr>
          <a:xfrm>
            <a:off x="274320" y="1005839"/>
            <a:ext cx="8595360" cy="3749042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2" name="Text 1"/>
          <p:cNvSpPr txBox="1"/>
          <p:nvPr/>
        </p:nvSpPr>
        <p:spPr>
          <a:xfrm>
            <a:off x="502919" y="326261"/>
            <a:ext cx="8138162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Execution Phase</a:t>
            </a:r>
          </a:p>
        </p:txBody>
      </p:sp>
      <p:sp>
        <p:nvSpPr>
          <p:cNvPr id="373" name="Shape 2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4" name="Text 3"/>
          <p:cNvSpPr txBox="1"/>
          <p:nvPr/>
        </p:nvSpPr>
        <p:spPr>
          <a:xfrm>
            <a:off x="594360" y="134221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75" name="Text 4"/>
          <p:cNvSpPr txBox="1"/>
          <p:nvPr/>
        </p:nvSpPr>
        <p:spPr>
          <a:xfrm>
            <a:off x="960120" y="135846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Runs many times on target device (Linux/Android)</a:t>
            </a:r>
          </a:p>
        </p:txBody>
      </p:sp>
      <p:sp>
        <p:nvSpPr>
          <p:cNvPr id="376" name="Text 5"/>
          <p:cNvSpPr txBox="1"/>
          <p:nvPr/>
        </p:nvSpPr>
        <p:spPr>
          <a:xfrm>
            <a:off x="594360" y="189085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77" name="Text 6"/>
          <p:cNvSpPr txBox="1"/>
          <p:nvPr/>
        </p:nvSpPr>
        <p:spPr>
          <a:xfrm>
            <a:off x="960120" y="190710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Input: kernel.bin (pre-compiled) + config + data</a:t>
            </a:r>
          </a:p>
        </p:txBody>
      </p:sp>
      <p:sp>
        <p:nvSpPr>
          <p:cNvPr id="378" name="Text 7"/>
          <p:cNvSpPr txBox="1"/>
          <p:nvPr/>
        </p:nvSpPr>
        <p:spPr>
          <a:xfrm>
            <a:off x="594360" y="243949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79" name="Text 8"/>
          <p:cNvSpPr txBox="1"/>
          <p:nvPr/>
        </p:nvSpPr>
        <p:spPr>
          <a:xfrm>
            <a:off x="960120" y="245574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Uses clCreateProgramWithBinary() — no compilation!</a:t>
            </a:r>
          </a:p>
        </p:txBody>
      </p:sp>
      <p:sp>
        <p:nvSpPr>
          <p:cNvPr id="380" name="Text 9"/>
          <p:cNvSpPr txBox="1"/>
          <p:nvPr/>
        </p:nvSpPr>
        <p:spPr>
          <a:xfrm>
            <a:off x="594360" y="298813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381" name="Text 10"/>
          <p:cNvSpPr txBox="1"/>
          <p:nvPr/>
        </p:nvSpPr>
        <p:spPr>
          <a:xfrm>
            <a:off x="960120" y="300438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Performance: ~5ms vs ~105ms — 20x faster startup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ext 0"/>
          <p:cNvSpPr txBox="1"/>
          <p:nvPr/>
        </p:nvSpPr>
        <p:spPr>
          <a:xfrm>
            <a:off x="502919" y="326261"/>
            <a:ext cx="8138162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Execution Phase</a:t>
            </a:r>
          </a:p>
        </p:txBody>
      </p:sp>
      <p:sp>
        <p:nvSpPr>
          <p:cNvPr id="386" name="Shape 1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7" name="Text 2"/>
          <p:cNvSpPr txBox="1"/>
          <p:nvPr/>
        </p:nvSpPr>
        <p:spPr>
          <a:xfrm>
            <a:off x="502919" y="1048320"/>
            <a:ext cx="81381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666666"/>
                </a:solidFill>
              </a:defRPr>
            </a:lvl1pPr>
          </a:lstStyle>
          <a:p>
            <a:pPr/>
            <a:r>
              <a:t>Purpose: Run kernel without compilation overhead</a:t>
            </a:r>
          </a:p>
        </p:txBody>
      </p:sp>
      <p:sp>
        <p:nvSpPr>
          <p:cNvPr id="388" name="Shape 3"/>
          <p:cNvSpPr/>
          <p:nvPr/>
        </p:nvSpPr>
        <p:spPr>
          <a:xfrm>
            <a:off x="457199" y="1463039"/>
            <a:ext cx="3931922" cy="1645921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9" name="Text 4"/>
          <p:cNvSpPr txBox="1"/>
          <p:nvPr/>
        </p:nvSpPr>
        <p:spPr>
          <a:xfrm>
            <a:off x="685799" y="1596960"/>
            <a:ext cx="347472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Inputs</a:t>
            </a:r>
          </a:p>
        </p:txBody>
      </p:sp>
      <p:sp>
        <p:nvSpPr>
          <p:cNvPr id="390" name="Text 5"/>
          <p:cNvSpPr txBox="1"/>
          <p:nvPr/>
        </p:nvSpPr>
        <p:spPr>
          <a:xfrm>
            <a:off x="685799" y="2154227"/>
            <a:ext cx="3474721" cy="629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kernel.bin — Pre-compiled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config.json — Runtime config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• Input data</a:t>
            </a:r>
          </a:p>
        </p:txBody>
      </p:sp>
      <p:sp>
        <p:nvSpPr>
          <p:cNvPr id="391" name="Shape 6"/>
          <p:cNvSpPr/>
          <p:nvPr/>
        </p:nvSpPr>
        <p:spPr>
          <a:xfrm>
            <a:off x="4754879" y="1463039"/>
            <a:ext cx="3931921" cy="1645921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2" name="Text 7"/>
          <p:cNvSpPr txBox="1"/>
          <p:nvPr/>
        </p:nvSpPr>
        <p:spPr>
          <a:xfrm>
            <a:off x="4983479" y="1596960"/>
            <a:ext cx="347472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393" name="Text 8"/>
          <p:cNvSpPr txBox="1"/>
          <p:nvPr/>
        </p:nvSpPr>
        <p:spPr>
          <a:xfrm>
            <a:off x="4983479" y="2154227"/>
            <a:ext cx="3474720" cy="629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result.bin — Processed output</a:t>
            </a:r>
          </a:p>
          <a:p>
            <a:pPr>
              <a:defRPr sz="1200"/>
            </a:pP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Using clCreateProgramWithBinary()</a:t>
            </a:r>
          </a:p>
        </p:txBody>
      </p:sp>
      <p:sp>
        <p:nvSpPr>
          <p:cNvPr id="394" name="Shape 9"/>
          <p:cNvSpPr/>
          <p:nvPr/>
        </p:nvSpPr>
        <p:spPr>
          <a:xfrm>
            <a:off x="457200" y="3383279"/>
            <a:ext cx="8229600" cy="1371601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5" name="Text 10"/>
          <p:cNvSpPr txBox="1"/>
          <p:nvPr/>
        </p:nvSpPr>
        <p:spPr>
          <a:xfrm>
            <a:off x="685799" y="3716109"/>
            <a:ext cx="7772402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000">
                <a:solidFill>
                  <a:srgbClr val="333333"/>
                </a:solidFill>
              </a:defRPr>
            </a:lvl1pPr>
          </a:lstStyle>
          <a:p>
            <a:pPr/>
            <a:r>
              <a:t>Performance: ~5ms vs ~105ms (with compilation)</a:t>
            </a:r>
          </a:p>
        </p:txBody>
      </p:sp>
      <p:sp>
        <p:nvSpPr>
          <p:cNvPr id="396" name="Text 11"/>
          <p:cNvSpPr txBox="1"/>
          <p:nvPr/>
        </p:nvSpPr>
        <p:spPr>
          <a:xfrm>
            <a:off x="685799" y="4157280"/>
            <a:ext cx="777240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666666"/>
                </a:solidFill>
              </a:defRPr>
            </a:lvl1pPr>
          </a:lstStyle>
          <a:p>
            <a:pPr/>
            <a:r>
              <a:t>Loading pre-compiled binary eliminates 100ms compilation overhead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hape 0"/>
          <p:cNvSpPr/>
          <p:nvPr/>
        </p:nvSpPr>
        <p:spPr>
          <a:xfrm>
            <a:off x="274320" y="1005839"/>
            <a:ext cx="8595360" cy="3749042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1" name="Text 1"/>
          <p:cNvSpPr txBox="1"/>
          <p:nvPr/>
        </p:nvSpPr>
        <p:spPr>
          <a:xfrm>
            <a:off x="502919" y="326261"/>
            <a:ext cx="8138162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Cross-Platform Deployment</a:t>
            </a:r>
          </a:p>
        </p:txBody>
      </p:sp>
      <p:sp>
        <p:nvSpPr>
          <p:cNvPr id="402" name="Shape 2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3" name="Text 3"/>
          <p:cNvSpPr txBox="1"/>
          <p:nvPr/>
        </p:nvSpPr>
        <p:spPr>
          <a:xfrm>
            <a:off x="594360" y="134221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404" name="Text 4"/>
          <p:cNvSpPr txBox="1"/>
          <p:nvPr/>
        </p:nvSpPr>
        <p:spPr>
          <a:xfrm>
            <a:off x="960120" y="135846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Develop and compile on Linux (full toolchain)</a:t>
            </a:r>
          </a:p>
        </p:txBody>
      </p:sp>
      <p:sp>
        <p:nvSpPr>
          <p:cNvPr id="405" name="Text 5"/>
          <p:cNvSpPr txBox="1"/>
          <p:nvPr/>
        </p:nvSpPr>
        <p:spPr>
          <a:xfrm>
            <a:off x="594360" y="189085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406" name="Text 6"/>
          <p:cNvSpPr txBox="1"/>
          <p:nvPr/>
        </p:nvSpPr>
        <p:spPr>
          <a:xfrm>
            <a:off x="960120" y="190710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Deploy to Linux servers OR Android devices</a:t>
            </a:r>
          </a:p>
        </p:txBody>
      </p:sp>
      <p:sp>
        <p:nvSpPr>
          <p:cNvPr id="407" name="Text 7"/>
          <p:cNvSpPr txBox="1"/>
          <p:nvPr/>
        </p:nvSpPr>
        <p:spPr>
          <a:xfrm>
            <a:off x="594360" y="243949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408" name="Text 8"/>
          <p:cNvSpPr txBox="1"/>
          <p:nvPr/>
        </p:nvSpPr>
        <p:spPr>
          <a:xfrm>
            <a:off x="960120" y="245574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Ship only 3 files: opencl_host + kernel.bin + config.json</a:t>
            </a:r>
          </a:p>
        </p:txBody>
      </p:sp>
      <p:sp>
        <p:nvSpPr>
          <p:cNvPr id="409" name="Text 9"/>
          <p:cNvSpPr txBox="1"/>
          <p:nvPr/>
        </p:nvSpPr>
        <p:spPr>
          <a:xfrm>
            <a:off x="594360" y="2988136"/>
            <a:ext cx="18288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A9D1B"/>
                </a:solidFill>
              </a:defRPr>
            </a:lvl1pPr>
          </a:lstStyle>
          <a:p>
            <a:pPr/>
            <a:r>
              <a:t>•</a:t>
            </a:r>
          </a:p>
        </p:txBody>
      </p:sp>
      <p:sp>
        <p:nvSpPr>
          <p:cNvPr id="410" name="Text 10"/>
          <p:cNvSpPr txBox="1"/>
          <p:nvPr/>
        </p:nvSpPr>
        <p:spPr>
          <a:xfrm>
            <a:off x="960120" y="3004383"/>
            <a:ext cx="7498079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333333"/>
                </a:solidFill>
              </a:defRPr>
            </a:lvl1pPr>
          </a:lstStyle>
          <a:p>
            <a:pPr/>
            <a:r>
              <a:t>No source code, headers, or build tools needed on target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Text 0"/>
          <p:cNvSpPr txBox="1"/>
          <p:nvPr/>
        </p:nvSpPr>
        <p:spPr>
          <a:xfrm>
            <a:off x="502919" y="306685"/>
            <a:ext cx="8138162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400">
                <a:solidFill>
                  <a:srgbClr val="333333"/>
                </a:solidFill>
              </a:defRPr>
            </a:lvl1pPr>
          </a:lstStyle>
          <a:p>
            <a:pPr/>
            <a:r>
              <a:t>Cross-Platform Deployment</a:t>
            </a:r>
          </a:p>
        </p:txBody>
      </p:sp>
      <p:sp>
        <p:nvSpPr>
          <p:cNvPr id="415" name="Shape 1"/>
          <p:cNvSpPr/>
          <p:nvPr/>
        </p:nvSpPr>
        <p:spPr>
          <a:xfrm>
            <a:off x="457200" y="685799"/>
            <a:ext cx="1371600" cy="45722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16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74320" y="868680"/>
            <a:ext cx="8595360" cy="41148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Text 0"/>
          <p:cNvSpPr txBox="1"/>
          <p:nvPr/>
        </p:nvSpPr>
        <p:spPr>
          <a:xfrm>
            <a:off x="502919" y="326261"/>
            <a:ext cx="8138162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What to Ship</a:t>
            </a:r>
          </a:p>
        </p:txBody>
      </p:sp>
      <p:sp>
        <p:nvSpPr>
          <p:cNvPr id="421" name="Shape 1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2" name="Text 2"/>
          <p:cNvSpPr txBox="1"/>
          <p:nvPr/>
        </p:nvSpPr>
        <p:spPr>
          <a:xfrm>
            <a:off x="502919" y="1139760"/>
            <a:ext cx="35661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Production Package:</a:t>
            </a:r>
          </a:p>
        </p:txBody>
      </p:sp>
      <p:grpSp>
        <p:nvGrpSpPr>
          <p:cNvPr id="425" name="Text 3"/>
          <p:cNvGrpSpPr/>
          <p:nvPr/>
        </p:nvGrpSpPr>
        <p:grpSpPr>
          <a:xfrm>
            <a:off x="457200" y="1463039"/>
            <a:ext cx="4114800" cy="1828801"/>
            <a:chOff x="0" y="0"/>
            <a:chExt cx="4114800" cy="1828800"/>
          </a:xfrm>
        </p:grpSpPr>
        <p:sp>
          <p:nvSpPr>
            <p:cNvPr id="423" name="Rectangle"/>
            <p:cNvSpPr/>
            <p:nvPr/>
          </p:nvSpPr>
          <p:spPr>
            <a:xfrm>
              <a:off x="0" y="0"/>
              <a:ext cx="4114800" cy="1828800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300"/>
              </a:pPr>
            </a:p>
          </p:txBody>
        </p:sp>
        <p:sp>
          <p:nvSpPr>
            <p:cNvPr id="424" name="dist/…"/>
            <p:cNvSpPr txBox="1"/>
            <p:nvPr/>
          </p:nvSpPr>
          <p:spPr>
            <a:xfrm>
              <a:off x="45719" y="0"/>
              <a:ext cx="4023362" cy="904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3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dist/</a:t>
              </a:r>
            </a:p>
            <a:p>
              <a:pPr>
                <a:defRPr sz="13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├── opencl_host    # Executor binary</a:t>
              </a:r>
            </a:p>
            <a:p>
              <a:pPr>
                <a:defRPr sz="13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├── kernel.bin     # Compiled kernel</a:t>
              </a:r>
            </a:p>
            <a:p>
              <a:pPr>
                <a:defRPr sz="1300">
                  <a:solidFill>
                    <a:srgbClr val="AAFFA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└── config.json    # Runtime config</a:t>
              </a:r>
            </a:p>
          </p:txBody>
        </p:sp>
      </p:grpSp>
      <p:sp>
        <p:nvSpPr>
          <p:cNvPr id="426" name="Text 4"/>
          <p:cNvSpPr txBox="1"/>
          <p:nvPr/>
        </p:nvSpPr>
        <p:spPr>
          <a:xfrm>
            <a:off x="4800599" y="1139760"/>
            <a:ext cx="384048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NOT required in production:</a:t>
            </a:r>
          </a:p>
        </p:txBody>
      </p:sp>
      <p:sp>
        <p:nvSpPr>
          <p:cNvPr id="427" name="Text 5"/>
          <p:cNvSpPr txBox="1"/>
          <p:nvPr/>
        </p:nvSpPr>
        <p:spPr>
          <a:xfrm>
            <a:off x="4800599" y="1495558"/>
            <a:ext cx="3840481" cy="2550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E53935"/>
                </a:solidFill>
              </a:defRPr>
            </a:lvl1pPr>
          </a:lstStyle>
          <a:p>
            <a:pPr/>
            <a:r>
              <a:t>✗ kernel.cl (source code)</a:t>
            </a:r>
          </a:p>
        </p:txBody>
      </p:sp>
      <p:sp>
        <p:nvSpPr>
          <p:cNvPr id="428" name="Text 6"/>
          <p:cNvSpPr txBox="1"/>
          <p:nvPr/>
        </p:nvSpPr>
        <p:spPr>
          <a:xfrm>
            <a:off x="4800599" y="1861318"/>
            <a:ext cx="3840481" cy="2550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E53935"/>
                </a:solidFill>
              </a:defRPr>
            </a:lvl1pPr>
          </a:lstStyle>
          <a:p>
            <a:pPr/>
            <a:r>
              <a:t>✗ include/ (headers)</a:t>
            </a:r>
          </a:p>
        </p:txBody>
      </p:sp>
      <p:sp>
        <p:nvSpPr>
          <p:cNvPr id="429" name="Text 7"/>
          <p:cNvSpPr txBox="1"/>
          <p:nvPr/>
        </p:nvSpPr>
        <p:spPr>
          <a:xfrm>
            <a:off x="4800599" y="2227078"/>
            <a:ext cx="3840481" cy="2550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E53935"/>
                </a:solidFill>
              </a:defRPr>
            </a:lvl1pPr>
          </a:lstStyle>
          <a:p>
            <a:pPr/>
            <a:r>
              <a:t>✗ Build tools</a:t>
            </a:r>
          </a:p>
        </p:txBody>
      </p:sp>
      <p:sp>
        <p:nvSpPr>
          <p:cNvPr id="430" name="Text 8"/>
          <p:cNvSpPr txBox="1"/>
          <p:nvPr/>
        </p:nvSpPr>
        <p:spPr>
          <a:xfrm>
            <a:off x="4800599" y="2592839"/>
            <a:ext cx="3840481" cy="255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E53935"/>
                </a:solidFill>
              </a:defRPr>
            </a:lvl1pPr>
          </a:lstStyle>
          <a:p>
            <a:pPr/>
            <a:r>
              <a:t>✗ Development dependencies</a:t>
            </a:r>
          </a:p>
        </p:txBody>
      </p:sp>
      <p:sp>
        <p:nvSpPr>
          <p:cNvPr id="431" name="Shape 9"/>
          <p:cNvSpPr/>
          <p:nvPr/>
        </p:nvSpPr>
        <p:spPr>
          <a:xfrm>
            <a:off x="457200" y="3657599"/>
            <a:ext cx="8229600" cy="1097282"/>
          </a:xfrm>
          <a:prstGeom prst="rect">
            <a:avLst/>
          </a:prstGeom>
          <a:solidFill>
            <a:srgbClr val="FFF8F0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2" name="Text 10"/>
          <p:cNvSpPr txBox="1"/>
          <p:nvPr/>
        </p:nvSpPr>
        <p:spPr>
          <a:xfrm>
            <a:off x="685799" y="4101663"/>
            <a:ext cx="777240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600">
                <a:solidFill>
                  <a:srgbClr val="333333"/>
                </a:solidFill>
              </a:defRPr>
            </a:lvl1pPr>
          </a:lstStyle>
          <a:p>
            <a:pPr/>
            <a:r>
              <a:t>Benefits: Smaller footprint • No source exposure • Faster startup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Text 0"/>
          <p:cNvSpPr txBox="1"/>
          <p:nvPr/>
        </p:nvSpPr>
        <p:spPr>
          <a:xfrm>
            <a:off x="502919" y="326261"/>
            <a:ext cx="8138162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3333"/>
                </a:solidFill>
              </a:defRPr>
            </a:lvl1pPr>
          </a:lstStyle>
          <a:p>
            <a:pPr/>
            <a:r>
              <a:t>Summary</a:t>
            </a:r>
          </a:p>
        </p:txBody>
      </p:sp>
      <p:sp>
        <p:nvSpPr>
          <p:cNvPr id="437" name="Shape 1"/>
          <p:cNvSpPr/>
          <p:nvPr/>
        </p:nvSpPr>
        <p:spPr>
          <a:xfrm>
            <a:off x="457200" y="777240"/>
            <a:ext cx="1371600" cy="45721"/>
          </a:xfrm>
          <a:prstGeom prst="rect">
            <a:avLst/>
          </a:prstGeom>
          <a:solidFill>
            <a:srgbClr val="FA9D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aphicFrame>
        <p:nvGraphicFramePr>
          <p:cNvPr id="438" name="Table 0"/>
          <p:cNvGraphicFramePr/>
          <p:nvPr/>
        </p:nvGraphicFramePr>
        <p:xfrm>
          <a:off x="457200" y="1005839"/>
          <a:ext cx="8229600" cy="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011679"/>
                <a:gridCol w="1828800"/>
                <a:gridCol w="2103120"/>
                <a:gridCol w="2286000"/>
              </a:tblGrid>
              <a:tr h="508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A9D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When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A9D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A9D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</a:rPr>
                        <a:t>Output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solidFill>
                      <a:srgbClr val="FA9D1B"/>
                    </a:solidFill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Compilation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Once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Linux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kernel.bin + opencl_host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Execution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Many times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Linux/Android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result.bin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CCCCC"/>
                      </a:solidFill>
                    </a:lnL>
                    <a:lnR w="12700">
                      <a:solidFill>
                        <a:srgbClr val="CCCCCC"/>
                      </a:solidFill>
                    </a:lnR>
                    <a:lnT w="12700">
                      <a:solidFill>
                        <a:srgbClr val="CCCCCC"/>
                      </a:solidFill>
                    </a:lnT>
                    <a:lnB w="12700">
                      <a:solidFill>
                        <a:srgbClr val="CCCCCC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39" name="Text 2"/>
          <p:cNvSpPr txBox="1"/>
          <p:nvPr/>
        </p:nvSpPr>
        <p:spPr>
          <a:xfrm>
            <a:off x="502919" y="2328480"/>
            <a:ext cx="81381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400">
                <a:solidFill>
                  <a:srgbClr val="333333"/>
                </a:solidFill>
              </a:defRPr>
            </a:lvl1pPr>
          </a:lstStyle>
          <a:p>
            <a:pPr/>
            <a:r>
              <a:t>Key Benefits:</a:t>
            </a:r>
          </a:p>
        </p:txBody>
      </p:sp>
      <p:sp>
        <p:nvSpPr>
          <p:cNvPr id="440" name="Text 3"/>
          <p:cNvSpPr txBox="1"/>
          <p:nvPr/>
        </p:nvSpPr>
        <p:spPr>
          <a:xfrm>
            <a:off x="594360" y="2661235"/>
            <a:ext cx="7589520" cy="301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✓ Zero compile time after first run</a:t>
            </a:r>
          </a:p>
        </p:txBody>
      </p:sp>
      <p:sp>
        <p:nvSpPr>
          <p:cNvPr id="441" name="Text 4"/>
          <p:cNvSpPr txBox="1"/>
          <p:nvPr/>
        </p:nvSpPr>
        <p:spPr>
          <a:xfrm>
            <a:off x="594360" y="3026995"/>
            <a:ext cx="7589520" cy="301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✓ Binary-only deployment</a:t>
            </a:r>
          </a:p>
        </p:txBody>
      </p:sp>
      <p:sp>
        <p:nvSpPr>
          <p:cNvPr id="442" name="Text 5"/>
          <p:cNvSpPr txBox="1"/>
          <p:nvPr/>
        </p:nvSpPr>
        <p:spPr>
          <a:xfrm>
            <a:off x="594360" y="3392755"/>
            <a:ext cx="7589520" cy="301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✓ Cross-platform support (Linux + Android)</a:t>
            </a:r>
          </a:p>
        </p:txBody>
      </p:sp>
      <p:sp>
        <p:nvSpPr>
          <p:cNvPr id="443" name="Text 6"/>
          <p:cNvSpPr txBox="1"/>
          <p:nvPr/>
        </p:nvSpPr>
        <p:spPr>
          <a:xfrm>
            <a:off x="594360" y="3758515"/>
            <a:ext cx="7589520" cy="301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333333"/>
                </a:solidFill>
              </a:defRPr>
            </a:lvl1pPr>
          </a:lstStyle>
          <a:p>
            <a:pPr/>
            <a:r>
              <a:t>✓ Smaller production footprint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8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8" name="Shape 1"/>
          <p:cNvSpPr/>
          <p:nvPr/>
        </p:nvSpPr>
        <p:spPr>
          <a:xfrm>
            <a:off x="457200" y="1645920"/>
            <a:ext cx="8229600" cy="2286001"/>
          </a:xfrm>
          <a:prstGeom prst="rect">
            <a:avLst/>
          </a:prstGeom>
          <a:solidFill>
            <a:srgbClr val="FFFFFF"/>
          </a:solidFill>
          <a:ln w="12700">
            <a:solidFill>
              <a:srgbClr val="FA9D1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9" name="Text 2"/>
          <p:cNvSpPr txBox="1"/>
          <p:nvPr/>
        </p:nvSpPr>
        <p:spPr>
          <a:xfrm>
            <a:off x="502919" y="1959044"/>
            <a:ext cx="8138162" cy="653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4400">
                <a:solidFill>
                  <a:srgbClr val="333333"/>
                </a:solidFill>
              </a:defRPr>
            </a:lvl1pPr>
          </a:lstStyle>
          <a:p>
            <a:pPr/>
            <a:r>
              <a:t>Questions &amp; Discussion</a:t>
            </a:r>
          </a:p>
        </p:txBody>
      </p:sp>
      <p:sp>
        <p:nvSpPr>
          <p:cNvPr id="450" name="Text 3"/>
          <p:cNvSpPr txBox="1"/>
          <p:nvPr/>
        </p:nvSpPr>
        <p:spPr>
          <a:xfrm>
            <a:off x="502919" y="3004165"/>
            <a:ext cx="8138162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400">
                <a:solidFill>
                  <a:srgbClr val="FA9D1B"/>
                </a:solidFill>
              </a:defRPr>
            </a:lvl1pPr>
          </a:lstStyle>
          <a:p>
            <a:pPr/>
            <a:r>
              <a:t>Thank you!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