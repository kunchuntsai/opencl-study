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1: Title (1 min)</a:t>
            </a:r>
          </a:p>
          <a:p>
            <a:pPr/>
          </a:p>
          <a:p>
            <a:pPr/>
            <a:r>
              <a:t>Welcome everyone. Today I'm going to show you a framework that will fundamentally change how you develop OpenCL image processing algorithms.</a:t>
            </a:r>
          </a:p>
          <a:p>
            <a:pPr/>
          </a:p>
          <a:p>
            <a:pPr/>
            <a:r>
              <a:t>The tagline says it all: "Easy Kernel Development, Zero Host Code."</a:t>
            </a:r>
          </a:p>
          <a:p>
            <a:pPr/>
          </a:p>
          <a:p>
            <a:pPr/>
            <a:r>
              <a:t>By the end of this hour, you'll understand how to go from writing your first kernel to deploying on Android — without writing a single line of host code.</a:t>
            </a:r>
          </a:p>
          <a:p>
            <a:pPr/>
          </a:p>
          <a:p>
            <a:pPr/>
            <a:r>
              <a:t>TIP: Start with energy. Make eye contact. Let the title sink in before moving 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2: Agenda - Part I (30 sec)</a:t>
            </a:r>
          </a:p>
          <a:p>
            <a:pPr/>
          </a:p>
          <a:p>
            <a:pPr/>
            <a:r>
              <a:t>We'll cover this in two parts. Let me walk you through our agenda.</a:t>
            </a:r>
          </a:p>
          <a:p>
            <a:pPr/>
          </a:p>
          <a:p>
            <a:pPr/>
            <a:r>
              <a:t>Part I focuses on OCLExample Introduction — what this framework is, why you need it, and how to use it.</a:t>
            </a:r>
          </a:p>
          <a:p>
            <a:pPr/>
          </a:p>
          <a:p>
            <a:pPr/>
            <a:r>
              <a:t>Part II goes deeper into the two-phase architecture for execution deliverable.</a:t>
            </a:r>
          </a:p>
          <a:p>
            <a:pPr/>
          </a:p>
          <a:p>
            <a:pPr/>
            <a:r>
              <a:t>We're starting with Introduction and Features.</a:t>
            </a:r>
          </a:p>
          <a:p>
            <a:pPr/>
          </a:p>
          <a:p>
            <a:pPr/>
            <a:r>
              <a:t>TIP: Point to the highlighted item. Give a quick overview of the journey.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4: The Problem We Solve (3 min)</a:t>
            </a:r>
          </a:p>
          <a:p>
            <a:pPr/>
          </a:p>
          <a:p>
            <a:pPr/>
            <a:r>
              <a:t>Let me start with a question: How many of you have written OpenCL host code before?</a:t>
            </a:r>
          </a:p>
          <a:p>
            <a:pPr/>
            <a:r>
              <a:t>[Pause for hands]</a:t>
            </a:r>
          </a:p>
          <a:p>
            <a:pPr/>
          </a:p>
          <a:p>
            <a:pPr/>
            <a:r>
              <a:t>Then you know the pain. Every time you want to test a new kernel, you need to write 500 lines of boilerplate.</a:t>
            </a:r>
          </a:p>
          <a:p>
            <a:pPr/>
          </a:p>
          <a:p>
            <a:pPr/>
            <a:r>
              <a:t>[Read each pain point, let audience nod in recognition]</a:t>
            </a:r>
          </a:p>
          <a:p>
            <a:pPr/>
          </a:p>
          <a:p>
            <a:pPr/>
            <a:r>
              <a:t>This framework eliminates ALL of that boilerplate. You focus on your kernel — we handle the rest.</a:t>
            </a:r>
          </a:p>
          <a:p>
            <a:pPr/>
          </a:p>
          <a:p>
            <a:pPr/>
            <a:r>
              <a:t>TIP: Build the frustration before revealing the solution.</a:t>
            </a:r>
          </a:p>
          <a:p>
            <a:pPr/>
          </a:p>
          <a:p>
            <a:pPr/>
            <a:r>
              <a:t>TRANSITION: "So what does the solution look like?"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3: Section Overview - Introduction / Features (1 min)</a:t>
            </a:r>
          </a:p>
          <a:p>
            <a:pPr/>
          </a:p>
          <a:p>
            <a:pPr/>
            <a:r>
              <a:t>In this section, we'll cover:</a:t>
            </a:r>
          </a:p>
          <a:p>
            <a:pPr/>
          </a:p>
          <a:p>
            <a:pPr/>
            <a:r>
              <a:t>• The PROBLEM — why traditional OpenCL development is painful</a:t>
            </a:r>
          </a:p>
          <a:p>
            <a:pPr/>
            <a:r>
              <a:t>• The SOLUTION — how this framework eliminates boilerplate</a:t>
            </a:r>
          </a:p>
          <a:p>
            <a:pPr/>
            <a:r>
              <a:t>• SIX KEY BENEFITS you get from using it</a:t>
            </a:r>
          </a:p>
          <a:p>
            <a:pPr/>
            <a:r>
              <a:t>• USER JOURNEY — the Build, Run, Learn cycle</a:t>
            </a:r>
          </a:p>
          <a:p>
            <a:pPr/>
            <a:r>
              <a:t>• ARCHITECTURE — how your code interacts with the framework</a:t>
            </a:r>
          </a:p>
          <a:p>
            <a:pPr/>
          </a:p>
          <a:p>
            <a:pPr/>
            <a:r>
              <a:t>Let's start with the problem.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5: Framework Benefits (3 min)</a:t>
            </a:r>
          </a:p>
          <a:p>
            <a:pPr/>
          </a:p>
          <a:p>
            <a:pPr/>
            <a:r>
              <a:t>Here are the six key benefits:</a:t>
            </a:r>
          </a:p>
          <a:p>
            <a:pPr/>
          </a:p>
          <a:p>
            <a:pPr/>
            <a:r>
              <a:t>ZERO HOST CODE — Your configuration lives in JSON. No C/C++ host code to write.</a:t>
            </a:r>
          </a:p>
          <a:p>
            <a:pPr/>
          </a:p>
          <a:p>
            <a:pPr/>
            <a:r>
              <a:t>INSTANT COMPARISON — Compare v0 against v1 of your kernel instantly.</a:t>
            </a:r>
          </a:p>
          <a:p>
            <a:pPr/>
          </a:p>
          <a:p>
            <a:pPr/>
            <a:r>
              <a:t>PLATFORM SWITCHING — Switch between standard OpenCL and vendor extensions with one config line.</a:t>
            </a:r>
          </a:p>
          <a:p>
            <a:pPr/>
          </a:p>
          <a:p>
            <a:pPr/>
            <a:r>
              <a:t>AUTO-VERIFICATION — Every GPU output is compared against CPU reference automatically.</a:t>
            </a:r>
          </a:p>
          <a:p>
            <a:pPr/>
          </a:p>
          <a:p>
            <a:pPr/>
            <a:r>
              <a:t>BINARY CACHING — After first run, compiled kernel is cached. Subsequent runs skip compilation.</a:t>
            </a:r>
          </a:p>
          <a:p>
            <a:pPr/>
          </a:p>
          <a:p>
            <a:pPr/>
            <a:r>
              <a:t>EASY EXTENSION — Adding a new algorithm? We have a scaffold for you.</a:t>
            </a:r>
          </a:p>
          <a:p>
            <a:pPr/>
          </a:p>
          <a:p>
            <a:pPr/>
            <a:r>
              <a:t>TIP: Touch each card as you explain. Let benefits build momentum.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6: User Journey (3 min)</a:t>
            </a:r>
          </a:p>
          <a:p>
            <a:pPr/>
          </a:p>
          <a:p>
            <a:pPr/>
            <a:r>
              <a:t>The typical user journey has three phases: Build, Run, and Learn.</a:t>
            </a:r>
          </a:p>
          <a:p>
            <a:pPr/>
          </a:p>
          <a:p>
            <a:pPr/>
            <a:r>
              <a:t>BUILD: Write your kernel in OpenCL C. Create a JSON config. That's it — no host code.</a:t>
            </a:r>
          </a:p>
          <a:p>
            <a:pPr/>
          </a:p>
          <a:p>
            <a:pPr/>
            <a:r>
              <a:t>RUN: Execute using our command-line tool. It compiles, sets up OpenCL, runs, and produces output.</a:t>
            </a:r>
          </a:p>
          <a:p>
            <a:pPr/>
          </a:p>
          <a:p>
            <a:pPr/>
            <a:r>
              <a:t>LEARN: Get detailed profiling data. Compare against CPU reference. Iterate.</a:t>
            </a:r>
          </a:p>
          <a:p>
            <a:pPr/>
          </a:p>
          <a:p>
            <a:pPr/>
            <a:r>
              <a:t>This cycle is how you go from concept to optimized production kernel.</a:t>
            </a:r>
          </a:p>
          <a:p>
            <a:pPr/>
          </a:p>
          <a:p>
            <a:pPr/>
            <a:r>
              <a:t>TIP: Trace the flow with your hand. Emphasize simplicity.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7: High-Level Architecture (3 min)</a:t>
            </a:r>
          </a:p>
          <a:p>
            <a:pPr/>
          </a:p>
          <a:p>
            <a:pPr/>
            <a:r>
              <a:t>On the left is YOUR code — just the kernel and JSON config.</a:t>
            </a:r>
          </a:p>
          <a:p>
            <a:pPr/>
          </a:p>
          <a:p>
            <a:pPr/>
            <a:r>
              <a:t>On the right is the FRAMEWORK — it handles everything else.</a:t>
            </a:r>
          </a:p>
          <a:p>
            <a:pPr/>
          </a:p>
          <a:p>
            <a:pPr/>
            <a:r>
              <a:t>Notice the clear separation: you stay in "user space" with your algorithm logic. The framework handles all the "plumbing".</a:t>
            </a:r>
          </a:p>
          <a:p>
            <a:pPr/>
          </a:p>
          <a:p>
            <a:pPr/>
            <a:r>
              <a:t>TIP: Use two-hand gestures — left for "your code", right for "framework".</a:t>
            </a:r>
          </a:p>
          <a:p>
            <a:pPr/>
          </a:p>
          <a:p>
            <a:pPr/>
            <a:r>
              <a:t>TRANSITION: "Now let's look at what happens inside the framework."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9: Section Overview - General OpenCL Host Flow (30 sec)</a:t>
            </a:r>
          </a:p>
          <a:p>
            <a:pPr/>
          </a:p>
          <a:p>
            <a:pPr/>
            <a:r>
              <a:t>In this section, we'll look at:</a:t>
            </a:r>
          </a:p>
          <a:p>
            <a:pPr/>
          </a:p>
          <a:p>
            <a:pPr/>
            <a:r>
              <a:t>• The 6 STEPS every OpenCL program must perform</a:t>
            </a:r>
          </a:p>
          <a:p>
            <a:pPr/>
            <a:r>
              <a:t>• What the FRAMEWORK HANDLES for you</a:t>
            </a:r>
          </a:p>
          <a:p>
            <a:pPr/>
            <a:r>
              <a:t>• The ~100MS COMPILATION overhead — important for later</a:t>
            </a:r>
          </a:p>
          <a:p>
            <a:pPr/>
            <a:r>
              <a:t>• Why this MATTERS for your development speed</a:t>
            </a:r>
          </a:p>
          <a:p>
            <a:pPr/>
          </a:p>
          <a:p>
            <a:pPr/>
            <a:r>
              <a:t>Let's walk through the flow.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10: Standard OpenCL Host Flow (4 min)</a:t>
            </a:r>
          </a:p>
          <a:p>
            <a:pPr/>
          </a:p>
          <a:p>
            <a:pPr/>
            <a:r>
              <a:t>This is the standard OpenCL host flow — 6 steps every OpenCL program must perform.</a:t>
            </a:r>
          </a:p>
          <a:p>
            <a:pPr/>
          </a:p>
          <a:p>
            <a:pPr/>
            <a:r>
              <a:t>STEP 1: Platform &amp; Device — Find available GPUs.</a:t>
            </a:r>
          </a:p>
          <a:p>
            <a:pPr/>
            <a:r>
              <a:t>STEP 2: Context &amp; Queue — Create execution context.</a:t>
            </a:r>
          </a:p>
          <a:p>
            <a:pPr/>
            <a:r>
              <a:t>STEP 3: Build Program — Compile kernel. Notice: ~100ms. Significant cost.</a:t>
            </a:r>
          </a:p>
          <a:p>
            <a:pPr/>
            <a:r>
              <a:t>STEP 4: Create Kernel — Extract runnable kernel.</a:t>
            </a:r>
          </a:p>
          <a:p>
            <a:pPr/>
            <a:r>
              <a:t>STEP 5: Setup Args &amp; Buffers — Allocate GPU memory, set arguments.</a:t>
            </a:r>
          </a:p>
          <a:p>
            <a:pPr/>
            <a:r>
              <a:t>STEP 6: Execute &amp; Read — Run kernel, read results.</a:t>
            </a:r>
          </a:p>
          <a:p>
            <a:pPr/>
          </a:p>
          <a:p>
            <a:pPr/>
            <a:r>
              <a:t>The framework does ALL of this for you.</a:t>
            </a:r>
          </a:p>
          <a:p>
            <a:pPr/>
          </a:p>
          <a:p>
            <a:pPr/>
            <a:r>
              <a:t>Pay attention to that ~100ms compilation time — we'll see how caching eliminates this.</a:t>
            </a:r>
          </a:p>
          <a:p>
            <a:pPr/>
          </a:p>
          <a:p>
            <a:pPr/>
            <a:r>
              <a:t>TIP: Walk through each step. Emphasize ~100ms compilation.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12: Section Overview - Standard CL vs CL Extension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TWO PLATFORM TYPES the framework supports</a:t>
            </a:r>
          </a:p>
          <a:p>
            <a:pPr/>
            <a:r>
              <a:t>• STANDARD CL — portable, works everywhere</a:t>
            </a:r>
          </a:p>
          <a:p>
            <a:pPr/>
            <a:r>
              <a:t>• CL EXTENSION — vendor-optimized SDK</a:t>
            </a:r>
          </a:p>
          <a:p>
            <a:pPr/>
            <a:r>
              <a:t>• ONE-LINE SWITCH between them</a:t>
            </a:r>
          </a:p>
          <a:p>
            <a:pPr/>
          </a:p>
          <a:p>
            <a:pPr/>
            <a:r>
              <a:t>Let me show you the branching.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13: Platform Branching (4 min)</a:t>
            </a:r>
          </a:p>
          <a:p>
            <a:pPr/>
          </a:p>
          <a:p>
            <a:pPr/>
            <a:r>
              <a:t>The framework supports two platform types — choose with a single JSON config line.</a:t>
            </a:r>
          </a:p>
          <a:p>
            <a:pPr/>
          </a:p>
          <a:p>
            <a:pPr/>
            <a:r>
              <a:t>STANDARD OPENCL on the left — uses only standard APIs. Works on ANY OpenCL GPU. Perfect for development.</a:t>
            </a:r>
          </a:p>
          <a:p>
            <a:pPr/>
          </a:p>
          <a:p>
            <a:pPr/>
            <a:r>
              <a:t>CL EXTENSION on the right — uses vendor-specific extensions. Maximum performance.</a:t>
            </a:r>
          </a:p>
          <a:p>
            <a:pPr/>
          </a:p>
          <a:p>
            <a:pPr/>
            <a:r>
              <a:t>Key insight: your kernel code stays the same. Only the config changes.</a:t>
            </a:r>
          </a:p>
          <a:p>
            <a:pPr/>
          </a:p>
          <a:p>
            <a:pPr/>
            <a:r>
              <a:t>One line change from Standard CL to CL Extension</a:t>
            </a:r>
          </a:p>
          <a:p>
            <a:pPr/>
          </a:p>
          <a:p>
            <a:pPr/>
            <a:r>
              <a:t>TIP: Point to both columns. Emphasize "same kernel, different platform".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Shape 1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14: Platform Configuration in JSON (2 min)</a:t>
            </a:r>
          </a:p>
          <a:p>
            <a:pPr/>
          </a:p>
          <a:p>
            <a:pPr/>
            <a:r>
              <a:t>Here's what it looks like in practice.</a:t>
            </a:r>
          </a:p>
          <a:p>
            <a:pPr/>
          </a:p>
          <a:p>
            <a:pPr/>
            <a:r>
              <a:t>Same algorithm — ReLU — two variants.</a:t>
            </a:r>
          </a:p>
          <a:p>
            <a:pPr/>
          </a:p>
          <a:p>
            <a:pPr/>
            <a:r>
              <a:t>v0 uses host_type: standard. Runs on any GPU.</a:t>
            </a:r>
          </a:p>
          <a:p>
            <a:pPr/>
            <a:r>
              <a:t>v1 uses host_type: cl_extension. Runs with vendor optimizations.</a:t>
            </a:r>
          </a:p>
          <a:p>
            <a:pPr/>
          </a:p>
          <a:p>
            <a:pPr/>
            <a:r>
              <a:t>KEY BENEFITS to emphasize:</a:t>
            </a:r>
          </a:p>
          <a:p>
            <a:pPr/>
            <a:r>
              <a:t>• Runtime platform selection — choose at execution time</a:t>
            </a:r>
          </a:p>
          <a:p>
            <a:pPr/>
            <a:r>
              <a:t>• No code changes required — just config</a:t>
            </a:r>
          </a:p>
          <a:p>
            <a:pPr/>
            <a:r>
              <a:t>• No rebuild needed — same binary, different config</a:t>
            </a:r>
          </a:p>
          <a:p>
            <a:pPr/>
            <a:r>
              <a:t>• One line change to switch</a:t>
            </a:r>
          </a:p>
          <a:p>
            <a:pPr/>
            <a:r>
              <a:t>• Run both variants to compare performance</a:t>
            </a:r>
          </a:p>
          <a:p>
            <a:pPr/>
            <a:r>
              <a:t>• Same kernel.cl works on both platforms</a:t>
            </a:r>
          </a:p>
          <a:p>
            <a:pPr/>
          </a:p>
          <a:p>
            <a:pPr/>
            <a:r>
              <a:t>TIP: Point to the host_type field. Emphasize no rebuild needed.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16: Section Overview - Caching Mechanism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BINARY CACHING — how it works</a:t>
            </a:r>
          </a:p>
          <a:p>
            <a:pPr/>
            <a:r>
              <a:t>• CACHE MISS — first run compiles and saves</a:t>
            </a:r>
          </a:p>
          <a:p>
            <a:pPr/>
            <a:r>
              <a:t>• CACHE HIT — subsequent runs are 20x faster</a:t>
            </a:r>
          </a:p>
          <a:p>
            <a:pPr/>
            <a:r>
              <a:t>• AUTOMATIC INVALIDATION when you change code</a:t>
            </a:r>
          </a:p>
          <a:p>
            <a:pPr/>
          </a:p>
          <a:p>
            <a:pPr/>
            <a:r>
              <a:t>Let's see the flow.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Shape 2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17: Binary Caching (4 min)</a:t>
            </a:r>
          </a:p>
          <a:p>
            <a:pPr/>
          </a:p>
          <a:p>
            <a:pPr/>
            <a:r>
              <a:t>The framework uses binary caching to eliminate repeated compilation.</a:t>
            </a:r>
          </a:p>
          <a:p>
            <a:pPr/>
          </a:p>
          <a:p>
            <a:pPr/>
            <a:r>
              <a:t>CACHE MISS — First run, no cache. Compile from source: ~100ms. Save binary to cache.</a:t>
            </a:r>
          </a:p>
          <a:p>
            <a:pPr/>
          </a:p>
          <a:p>
            <a:pPr/>
            <a:r>
              <a:t>CACHE HIT — Subsequent runs find cached binary. Load directly: ~5ms. That's 20x speedup!</a:t>
            </a:r>
          </a:p>
          <a:p>
            <a:pPr/>
          </a:p>
          <a:p>
            <a:pPr/>
            <a:r>
              <a:t>Cache is invalidated automatically when kernel source changes (SHA256 hashing).</a:t>
            </a:r>
          </a:p>
          <a:p>
            <a:pPr/>
          </a:p>
          <a:p>
            <a:pPr/>
            <a:r>
              <a:t>First run is slow, every run after is fast. Change your kernel? One slow compile, then fast again.</a:t>
            </a:r>
          </a:p>
          <a:p>
            <a:pPr/>
          </a:p>
          <a:p>
            <a:pPr/>
            <a:r>
              <a:t>TIP: Trace both paths — emphasize 100ms vs 5ms. Key selling point.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Shape 2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19: Section Overview - JSON Configuration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FILE STRUCTURE — how configs are organized</a:t>
            </a:r>
          </a:p>
          <a:p>
            <a:pPr/>
            <a:r>
              <a:t>• GLOBAL vs ALGORITHM-SPECIFIC configs</a:t>
            </a:r>
          </a:p>
          <a:p>
            <a:pPr/>
            <a:r>
              <a:t>• COMPLETE KERNEL CONFIG — all the fields you need</a:t>
            </a:r>
          </a:p>
          <a:p>
            <a:pPr/>
            <a:r>
              <a:t>• ARGUMENT TYPES — covering any kernel pattern</a:t>
            </a:r>
          </a:p>
          <a:p>
            <a:pPr/>
          </a:p>
          <a:p>
            <a:pPr/>
            <a:r>
              <a:t>Let's look at the structure.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3" name="Shape 2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21: Kernel Configuration (3 min)</a:t>
            </a:r>
          </a:p>
          <a:p>
            <a:pPr/>
          </a:p>
          <a:p>
            <a:pPr/>
            <a:r>
              <a:t>Complete kernel configuration for one variant.</a:t>
            </a:r>
          </a:p>
          <a:p>
            <a:pPr/>
          </a:p>
          <a:p>
            <a:pPr/>
            <a:r>
              <a:t>Key fields:</a:t>
            </a:r>
          </a:p>
          <a:p>
            <a:pPr/>
            <a:r>
              <a:t>• host_type: standard or cl_extension</a:t>
            </a:r>
          </a:p>
          <a:p>
            <a:pPr/>
            <a:r>
              <a:t>• kernel_file: path to .cl source</a:t>
            </a:r>
          </a:p>
          <a:p>
            <a:pPr/>
            <a:r>
              <a:t>• kernel_function: function name to call</a:t>
            </a:r>
          </a:p>
          <a:p>
            <a:pPr/>
            <a:r>
              <a:t>• work_dim, global_work_size, local_work_size: NDRange config</a:t>
            </a:r>
          </a:p>
          <a:p>
            <a:pPr/>
            <a:r>
              <a:t>• kernel_args: argument list with types</a:t>
            </a:r>
          </a:p>
          <a:p>
            <a:pPr/>
          </a:p>
          <a:p>
            <a:pPr/>
            <a:r>
              <a:t>This is ALL the information the framework needs to run your kernel.</a:t>
            </a:r>
          </a:p>
          <a:p>
            <a:pPr/>
          </a:p>
          <a:p>
            <a:pPr/>
            <a:r>
              <a:t>TIP: Highlight each field. Emphasize completeness.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Shape 2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22: Supported Argument Types (2 min)</a:t>
            </a:r>
          </a:p>
          <a:p>
            <a:pPr/>
          </a:p>
          <a:p>
            <a:pPr/>
            <a:r>
              <a:t>Six argument types:</a:t>
            </a:r>
          </a:p>
          <a:p>
            <a:pPr/>
          </a:p>
          <a:p>
            <a:pPr/>
            <a:r>
              <a:t>• INPUT BUFFER: Read-only data</a:t>
            </a:r>
          </a:p>
          <a:p>
            <a:pPr/>
            <a:r>
              <a:t>• OUTPUT BUFFER: Where results go</a:t>
            </a:r>
          </a:p>
          <a:p>
            <a:pPr/>
            <a:r>
              <a:t>• PARAMETER: Auto-extracted from images (width, height)</a:t>
            </a:r>
          </a:p>
          <a:p>
            <a:pPr/>
            <a:r>
              <a:t>• SCALAR: Custom constants</a:t>
            </a:r>
          </a:p>
          <a:p>
            <a:pPr/>
            <a:r>
              <a:t>• CUSTOM BUFFER: User-defined buffers</a:t>
            </a:r>
          </a:p>
          <a:p>
            <a:pPr/>
            <a:r>
              <a:t>• STRUCT: Pack multiple scalars</a:t>
            </a:r>
          </a:p>
          <a:p>
            <a:pPr/>
          </a:p>
          <a:p>
            <a:pPr/>
            <a:r>
              <a:t>These cover virtually every kernel argument pattern.</a:t>
            </a:r>
          </a:p>
          <a:p>
            <a:pPr/>
          </a:p>
          <a:p>
            <a:pPr/>
            <a:r>
              <a:t>TIP: Quick scan of table — reference material.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Shape 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23: Part I Summary (2 min)</a:t>
            </a:r>
          </a:p>
          <a:p>
            <a:pPr/>
          </a:p>
          <a:p>
            <a:pPr/>
            <a:r>
              <a:t>Let's recap Part I:</a:t>
            </a:r>
          </a:p>
          <a:p>
            <a:pPr/>
          </a:p>
          <a:p>
            <a:pPr/>
            <a:r>
              <a:t>• Framework eliminates host code — just kernel + JSON</a:t>
            </a:r>
          </a:p>
          <a:p>
            <a:pPr/>
            <a:r>
              <a:t>• 6-step OpenCL flow handled for you</a:t>
            </a:r>
          </a:p>
          <a:p>
            <a:pPr/>
            <a:r>
              <a:t>• Two platforms: Standard CL for dev, CL Extension</a:t>
            </a:r>
          </a:p>
          <a:p>
            <a:pPr/>
            <a:r>
              <a:t>• Binary caching: 100ms → 5ms</a:t>
            </a:r>
          </a:p>
          <a:p>
            <a:pPr/>
            <a:r>
              <a:t>• JSON configuration: structured, reusable</a:t>
            </a:r>
          </a:p>
          <a:p>
            <a:pPr/>
          </a:p>
          <a:p>
            <a:pPr/>
            <a:r>
              <a:t>Any questions before Part II?</a:t>
            </a:r>
          </a:p>
          <a:p>
            <a:pPr/>
            <a:r>
              <a:t>[Genuine pause for questions]</a:t>
            </a:r>
          </a:p>
          <a:p>
            <a:pPr/>
          </a:p>
          <a:p>
            <a:pPr/>
            <a:r>
              <a:t>TRANSITION: "Ready for Part II? Let's talk about deliverable."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5" name="Shape 2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20: Agenda - Part II (30 sec)</a:t>
            </a:r>
          </a:p>
          <a:p>
            <a:pPr/>
          </a:p>
          <a:p>
            <a:pPr/>
            <a:r>
              <a:t>Now we're moving to Part II: Two-Phase Architecture.</a:t>
            </a:r>
          </a:p>
          <a:p>
            <a:pPr/>
          </a:p>
          <a:p>
            <a:pPr/>
            <a:r>
              <a:t>"Compile Once, Run Anywhere."</a:t>
            </a:r>
          </a:p>
          <a:p>
            <a:pPr/>
          </a:p>
          <a:p>
            <a:pPr/>
            <a:r>
              <a:t>In Part I, we saw how to develop and test kernels. Now let's see how to deploy them to execution platforms— including Android devices.</a:t>
            </a:r>
          </a:p>
          <a:p>
            <a:pPr/>
          </a:p>
          <a:p>
            <a:pPr/>
            <a:r>
              <a:t>Starting with a quick recap.</a:t>
            </a:r>
          </a:p>
          <a:p>
            <a:pPr/>
          </a:p>
          <a:p>
            <a:pPr/>
            <a:r>
              <a:t>TIP: Note that Part II is now highlighted. Point to Recap.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4" name="Shape 2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25: Part I Recap (1 min)</a:t>
            </a:r>
          </a:p>
          <a:p>
            <a:pPr/>
          </a:p>
          <a:p>
            <a:pPr/>
            <a:r>
              <a:t>Quick recap:</a:t>
            </a:r>
          </a:p>
          <a:p>
            <a:pPr/>
            <a:r>
              <a:t>• Framework benefits — zero host code</a:t>
            </a:r>
          </a:p>
          <a:p>
            <a:pPr/>
            <a:r>
              <a:t>• User journey — Build, Run, Learn</a:t>
            </a:r>
          </a:p>
          <a:p>
            <a:pPr/>
            <a:r>
              <a:t>• Platform options — Standard vs Extension</a:t>
            </a:r>
          </a:p>
          <a:p>
            <a:pPr/>
            <a:r>
              <a:t>• JSON configuration</a:t>
            </a:r>
          </a:p>
          <a:p>
            <a:pPr/>
          </a:p>
          <a:p>
            <a:pPr/>
            <a:r>
              <a:t>Now: how we split the host into two distinct phases — Compilation and Execution.</a:t>
            </a:r>
          </a:p>
          <a:p>
            <a:pPr/>
          </a:p>
          <a:p>
            <a:pPr/>
            <a:r>
              <a:t>TIP: Brief review. Point to the orange banner.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9" name="Shape 3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28: The Problem with Monolithic Flow (3 min)</a:t>
            </a:r>
          </a:p>
          <a:p>
            <a:pPr/>
          </a:p>
          <a:p>
            <a:pPr/>
            <a:r>
              <a:t>Why two phases? Monolithic flow has serious problems:</a:t>
            </a:r>
          </a:p>
          <a:p>
            <a:pPr/>
          </a:p>
          <a:p>
            <a:pPr/>
            <a:r>
              <a:t>1. Every run recompiles — ~100ms matters for real-time apps</a:t>
            </a:r>
          </a:p>
          <a:p>
            <a:pPr/>
            <a:r>
              <a:t>2. Source code must be on target — do you want to ship source?</a:t>
            </a:r>
          </a:p>
          <a:p>
            <a:pPr/>
            <a:r>
              <a:t>3. Can't pre-compile for different devices</a:t>
            </a:r>
          </a:p>
          <a:p>
            <a:pPr/>
            <a:r>
              <a:t>4. No binary-only distribution</a:t>
            </a:r>
          </a:p>
          <a:p>
            <a:pPr/>
          </a:p>
          <a:p>
            <a:pPr/>
            <a:r>
              <a:t>Solution: split into Compilation + Execution. Compile on dev machine, execute on target.</a:t>
            </a:r>
          </a:p>
          <a:p>
            <a:pPr/>
          </a:p>
          <a:p>
            <a:pPr/>
            <a:r>
              <a:t>TIP: Build the problem before the solution.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Shape 3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31: Two-Phase Architecture (4 min)</a:t>
            </a:r>
          </a:p>
          <a:p>
            <a:pPr/>
          </a:p>
          <a:p>
            <a:pPr/>
            <a:r>
              <a:t>LEFT — COMPILATION PHASE: Runs on Linux dev machine. Takes kernel source + JSON config. Outputs compiled binary + executor program.</a:t>
            </a:r>
          </a:p>
          <a:p>
            <a:pPr/>
          </a:p>
          <a:p>
            <a:pPr/>
            <a:r>
              <a:t>RIGHT — EXECUTION PHASE: Runs on target (Linux/Android). Takes pre-compiled binary + runtime config. Produces output.</a:t>
            </a:r>
          </a:p>
          <a:p>
            <a:pPr/>
          </a:p>
          <a:p>
            <a:pPr/>
            <a:r>
              <a:t>Key insight: compilation happens ONCE. Execution happens MANY times — without compiling.</a:t>
            </a:r>
          </a:p>
          <a:p>
            <a:pPr/>
          </a:p>
          <a:p>
            <a:pPr/>
            <a:r>
              <a:t>This is how you get fast startup, binary-only distribution, cross-platform deliverable.</a:t>
            </a:r>
          </a:p>
          <a:p>
            <a:pPr/>
          </a:p>
          <a:p>
            <a:pPr/>
            <a:r>
              <a:t>TIP: Draw invisible line between phases. Emphasize "once" vs "many times".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9" name="Shape 3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30: Section Overview - Compilation Phase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WHEN and WHERE compilation runs</a:t>
            </a:r>
          </a:p>
          <a:p>
            <a:pPr/>
            <a:r>
              <a:t>• INPUTS — source and config</a:t>
            </a:r>
          </a:p>
          <a:p>
            <a:pPr/>
            <a:r>
              <a:t>• OUTPUTS — binary and executor</a:t>
            </a:r>
          </a:p>
          <a:p>
            <a:pPr/>
            <a:r>
              <a:t>• What's INSIDE kernel.bin</a:t>
            </a:r>
          </a:p>
          <a:p>
            <a:pPr/>
          </a:p>
          <a:p>
            <a:pPr/>
            <a:r>
              <a:t>Let's see the architecture.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3" name="Shape 3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32: Compilation Phase Details (3 min)</a:t>
            </a:r>
          </a:p>
          <a:p>
            <a:pPr/>
          </a:p>
          <a:p>
            <a:pPr/>
            <a:r>
              <a:t>INPUTS: Kernel source + JSON configuration.</a:t>
            </a:r>
          </a:p>
          <a:p>
            <a:pPr/>
          </a:p>
          <a:p>
            <a:pPr/>
            <a:r>
              <a:t>OUTPUTS:</a:t>
            </a:r>
          </a:p>
          <a:p>
            <a:pPr/>
            <a:r>
              <a:t>1. kernel.bin — compiled binary for target device</a:t>
            </a:r>
          </a:p>
          <a:p>
            <a:pPr/>
            <a:r>
              <a:t>2. opencl_host — Android-ready executable</a:t>
            </a:r>
          </a:p>
          <a:p>
            <a:pPr/>
          </a:p>
          <a:p>
            <a:pPr/>
            <a:r>
              <a:t>kernel.bin contains not just binary, but metadata: device name, OpenCL version, compile options.</a:t>
            </a:r>
          </a:p>
          <a:p>
            <a:pPr/>
          </a:p>
          <a:p>
            <a:pPr/>
            <a:r>
              <a:t>Run compilation once per target device type. Then ship the binary.</a:t>
            </a:r>
          </a:p>
          <a:p>
            <a:pPr/>
          </a:p>
          <a:p>
            <a:pPr/>
            <a:r>
              <a:t>TIP: Show input → output flow. Emphasize metadata.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7" name="Shape 3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34: Section Overview - Execution Phase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WHERE execution runs — Linux or Android</a:t>
            </a:r>
          </a:p>
          <a:p>
            <a:pPr/>
            <a:r>
              <a:t>• INPUTS — pre-compiled binary, config, data</a:t>
            </a:r>
          </a:p>
          <a:p>
            <a:pPr/>
            <a:r>
              <a:t>• The KEY API — clCreateProgramWithBinary()</a:t>
            </a:r>
          </a:p>
          <a:p>
            <a:pPr/>
            <a:r>
              <a:t>• PERFORMANCE gain — 20x faster</a:t>
            </a:r>
          </a:p>
          <a:p>
            <a:pPr/>
          </a:p>
          <a:p>
            <a:pPr/>
            <a:r>
              <a:t>Let's see the details.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2" name="Shape 3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35: Execution Phase (3 min)</a:t>
            </a:r>
          </a:p>
          <a:p>
            <a:pPr/>
          </a:p>
          <a:p>
            <a:pPr/>
            <a:r>
              <a:t>INPUTS: Pre-compiled kernel.bin + runtime config + input data.</a:t>
            </a:r>
          </a:p>
          <a:p>
            <a:pPr/>
          </a:p>
          <a:p>
            <a:pPr/>
            <a:r>
              <a:t>OUTPUT: Processed result.</a:t>
            </a:r>
          </a:p>
          <a:p>
            <a:pPr/>
          </a:p>
          <a:p>
            <a:pPr/>
            <a:r>
              <a:t>The magic: clCreateProgramWithBinary(). Load pre-compiled binary directly.</a:t>
            </a:r>
          </a:p>
          <a:p>
            <a:pPr/>
          </a:p>
          <a:p>
            <a:pPr/>
            <a:r>
              <a:t>Performance: ~5ms vs ~105ms. That's 20x improvement.</a:t>
            </a:r>
          </a:p>
          <a:p>
            <a:pPr/>
          </a:p>
          <a:p>
            <a:pPr/>
            <a:r>
              <a:t>For real-time image processing, this difference is critical.</a:t>
            </a:r>
          </a:p>
          <a:p>
            <a:pPr/>
          </a:p>
          <a:p>
            <a:pPr/>
            <a:r>
              <a:t>TIP: Emphasize clCreateProgramWithBinary(). Performance banner draws attention.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6" name="Shape 3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37: Section Overview - Cross-Platform Deliverable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DEVELOP on Linux with full toolchain</a:t>
            </a:r>
          </a:p>
          <a:p>
            <a:pPr/>
            <a:r>
              <a:t>• DEPLOY to Linux or Android</a:t>
            </a:r>
          </a:p>
          <a:p>
            <a:pPr/>
            <a:r>
              <a:t>• WHAT TO SHIP — just 3 files</a:t>
            </a:r>
          </a:p>
          <a:p>
            <a:pPr/>
            <a:r>
              <a:t>• What you DON'T ship — source stays home</a:t>
            </a:r>
          </a:p>
          <a:p>
            <a:pPr/>
          </a:p>
          <a:p>
            <a:pPr/>
            <a:r>
              <a:t>Let's see the flow.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2" name="Shape 3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38: Cross-Platform Deliverable (3 min)</a:t>
            </a:r>
          </a:p>
          <a:p>
            <a:pPr/>
          </a:p>
          <a:p>
            <a:pPr/>
            <a:r>
              <a:t>Develop on Linux — full toolchain available.</a:t>
            </a:r>
          </a:p>
          <a:p>
            <a:pPr/>
          </a:p>
          <a:p>
            <a:pPr/>
            <a:r>
              <a:t>Produce deliverable package: executor binary + compiled kernel.</a:t>
            </a:r>
          </a:p>
          <a:p>
            <a:pPr/>
          </a:p>
          <a:p>
            <a:pPr/>
            <a:r>
              <a:t>Deploy to Linux servers OR Android devices. Same package, different targets.</a:t>
            </a:r>
          </a:p>
          <a:p>
            <a:pPr/>
          </a:p>
          <a:p>
            <a:pPr/>
            <a:r>
              <a:t>Android doesn't need compilation infrastructure — just executor + pre-compiled binary.</a:t>
            </a:r>
          </a:p>
          <a:p>
            <a:pPr/>
          </a:p>
          <a:p>
            <a:pPr/>
            <a:r>
              <a:t>TIP: Show flow left to right. Emphasize Android without toolchain.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6" name="Shape 4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39: What to Ship (3 min)</a:t>
            </a:r>
          </a:p>
          <a:p>
            <a:pPr/>
          </a:p>
          <a:p>
            <a:pPr/>
            <a:r>
              <a:t>WHAT YOU SHIP (3 files):</a:t>
            </a:r>
          </a:p>
          <a:p>
            <a:pPr/>
            <a:r>
              <a:t>• opencl_host — executor binary</a:t>
            </a:r>
          </a:p>
          <a:p>
            <a:pPr/>
            <a:r>
              <a:t>• kernel.bin — compiled algorithm</a:t>
            </a:r>
          </a:p>
          <a:p>
            <a:pPr/>
            <a:r>
              <a:t>• config.json — runtime config</a:t>
            </a:r>
          </a:p>
          <a:p>
            <a:pPr/>
          </a:p>
          <a:p>
            <a:pPr/>
            <a:r>
              <a:t>WHAT YOU DON'T SHIP:</a:t>
            </a:r>
          </a:p>
          <a:p>
            <a:pPr/>
            <a:r>
              <a:t>• Source code — stays on dev machine</a:t>
            </a:r>
          </a:p>
          <a:p>
            <a:pPr/>
            <a:r>
              <a:t>• Headers — not needed at runtime</a:t>
            </a:r>
          </a:p>
          <a:p>
            <a:pPr/>
            <a:r>
              <a:t>• Build tools — no compilation on target</a:t>
            </a:r>
          </a:p>
          <a:p>
            <a:pPr/>
            <a:r>
              <a:t>• Dev dependencies — execution is lean</a:t>
            </a:r>
          </a:p>
          <a:p>
            <a:pPr/>
          </a:p>
          <a:p>
            <a:pPr/>
            <a:r>
              <a:t>Benefits: smaller footprint, no source exposure, faster startup.</a:t>
            </a:r>
          </a:p>
          <a:p>
            <a:pPr/>
          </a:p>
          <a:p>
            <a:pPr/>
            <a:r>
              <a:t>TIP: Contrast the two lists. "Ship this, not that."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7" name="Shape 4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41: Summary (3 min)</a:t>
            </a:r>
          </a:p>
          <a:p>
            <a:pPr/>
          </a:p>
          <a:p>
            <a:pPr/>
            <a:r>
              <a:t>COMPILATION: Once, on Linux, produces kernel.bin + opencl_host.</a:t>
            </a:r>
          </a:p>
          <a:p>
            <a:pPr/>
          </a:p>
          <a:p>
            <a:pPr/>
            <a:r>
              <a:t>EXECUTION: Many times, on Linux/Android, produces results.</a:t>
            </a:r>
          </a:p>
          <a:p>
            <a:pPr/>
          </a:p>
          <a:p>
            <a:pPr/>
            <a:r>
              <a:t>Key benefits:</a:t>
            </a:r>
          </a:p>
          <a:p>
            <a:pPr/>
            <a:r>
              <a:t>• Zero compile time after first run</a:t>
            </a:r>
          </a:p>
          <a:p>
            <a:pPr/>
            <a:r>
              <a:t>• Binary-only deliverable</a:t>
            </a:r>
          </a:p>
          <a:p>
            <a:pPr/>
            <a:r>
              <a:t>• Cross-platform support</a:t>
            </a:r>
          </a:p>
          <a:p>
            <a:pPr/>
            <a:r>
              <a:t>• Smaller execution footprint</a:t>
            </a:r>
          </a:p>
          <a:p>
            <a:pPr/>
          </a:p>
          <a:p>
            <a:pPr/>
            <a:r>
              <a:t>You now have everything to go from development to execution .</a:t>
            </a:r>
          </a:p>
          <a:p>
            <a:pPr/>
          </a:p>
          <a:p>
            <a:pPr/>
            <a:r>
              <a:t>TIP: Touch table, then benefits. Build to confident conclusion.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4" name="Shape 4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33: Q&amp;A (5+ min)</a:t>
            </a:r>
          </a:p>
          <a:p>
            <a:pPr/>
          </a:p>
          <a:p>
            <a:pPr/>
            <a:r>
              <a:t>Thank you for your attention!</a:t>
            </a:r>
          </a:p>
          <a:p>
            <a:pPr/>
          </a:p>
          <a:p>
            <a:pPr/>
            <a:r>
              <a:t>Let's open the floor for questions.</a:t>
            </a:r>
          </a:p>
          <a:p>
            <a:pPr/>
          </a:p>
          <a:p>
            <a:pPr/>
            <a:r>
              <a:t>[If no immediate questions, seed with:]</a:t>
            </a:r>
          </a:p>
          <a:p>
            <a:pPr/>
            <a:r>
              <a:t>• "A common question is about performance vs hand-written host code..."</a:t>
            </a:r>
          </a:p>
          <a:p>
            <a:pPr/>
            <a:r>
              <a:t>• "Some teams ask about integrating with existing build systems..."</a:t>
            </a:r>
          </a:p>
          <a:p>
            <a:pPr/>
            <a:r>
              <a:t>• "You might be wondering about debugging kernel issues..."</a:t>
            </a:r>
          </a:p>
          <a:p>
            <a:pPr/>
          </a:p>
          <a:p>
            <a:pPr/>
            <a:r>
              <a:t>POTENTIAL Q&amp;A:</a:t>
            </a:r>
          </a:p>
          <a:p>
            <a:pPr/>
          </a:p>
          <a:p>
            <a:pPr/>
            <a:r>
              <a:t>Q: How does this compare to vendor SDKs?</a:t>
            </a:r>
          </a:p>
          <a:p>
            <a:pPr/>
            <a:r>
              <a:t>A: Vendor SDKs lock you in. Our framework abstracts both standard CL and vendor extensions. You get portability AND performance.</a:t>
            </a:r>
          </a:p>
          <a:p>
            <a:pPr/>
          </a:p>
          <a:p>
            <a:pPr/>
            <a:r>
              <a:t>Q: What's the learning curve?</a:t>
            </a:r>
          </a:p>
          <a:p>
            <a:pPr/>
            <a:r>
              <a:t>A: If you know OpenCL kernels, you're 90% there. JSON config takes maybe an hour. Most people are productive within a day.</a:t>
            </a:r>
          </a:p>
          <a:p>
            <a:pPr/>
          </a:p>
          <a:p>
            <a:pPr/>
            <a:r>
              <a:t>Q: Can I use existing kernels?</a:t>
            </a:r>
          </a:p>
          <a:p>
            <a:pPr/>
            <a:r>
              <a:t>A: Absolutely. Just create a JSON config. No code changes needed.</a:t>
            </a:r>
          </a:p>
          <a:p>
            <a:pPr/>
          </a:p>
          <a:p>
            <a:pPr/>
            <a:r>
              <a:t>Q: What about debugging?</a:t>
            </a:r>
          </a:p>
          <a:p>
            <a:pPr/>
            <a:r>
              <a:t>A: Framework provides detailed error messages and profiling. For kernel debugging, use standard OpenCL tools.</a:t>
            </a:r>
          </a:p>
          <a:p>
            <a:pPr/>
          </a:p>
          <a:p>
            <a:pPr/>
            <a:r>
              <a:t>[For closing:]</a:t>
            </a:r>
          </a:p>
          <a:p>
            <a:pPr/>
            <a:r>
              <a:t>Feel free to reach out if you have questions after this session.</a:t>
            </a:r>
          </a:p>
          <a:p>
            <a:pPr/>
          </a:p>
          <a:p>
            <a:pPr/>
            <a:r>
              <a:t>Thank you!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Calibri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02919" y="1802308"/>
            <a:ext cx="8138161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333333"/>
                </a:solidFill>
              </a:defRPr>
            </a:lvl1pPr>
          </a:lstStyle>
          <a:p>
            <a:pPr/>
            <a:r>
              <a:t>OpenCL Host Framework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02919" y="2592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666666"/>
                </a:solidFill>
              </a:defRPr>
            </a:lvl1pPr>
          </a:lstStyle>
          <a:p>
            <a:pPr/>
            <a:r>
              <a:t>Easy Kernel Development, Zero Host Code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02919" y="369018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666666"/>
                </a:solidFill>
              </a:defRPr>
            </a:lvl1pPr>
          </a:lstStyle>
          <a:p>
            <a:pPr/>
            <a:r>
              <a:t>60-Minute Technical Presentation</a:t>
            </a:r>
          </a:p>
        </p:txBody>
      </p:sp>
      <p:sp>
        <p:nvSpPr>
          <p:cNvPr id="23" name="Shape 3"/>
          <p:cNvSpPr/>
          <p:nvPr/>
        </p:nvSpPr>
        <p:spPr>
          <a:xfrm>
            <a:off x="2743200" y="3200400"/>
            <a:ext cx="3657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8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2"/>
          <p:cNvSpPr txBox="1"/>
          <p:nvPr/>
        </p:nvSpPr>
        <p:spPr>
          <a:xfrm>
            <a:off x="502920" y="1159336"/>
            <a:ext cx="37490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Part I: OCLExample Introduction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685800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960120" y="157410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685800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960120" y="193986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34" name="Text 7"/>
          <p:cNvSpPr txBox="1"/>
          <p:nvPr/>
        </p:nvSpPr>
        <p:spPr>
          <a:xfrm>
            <a:off x="685800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960120" y="230562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36" name="Text 9"/>
          <p:cNvSpPr txBox="1"/>
          <p:nvPr/>
        </p:nvSpPr>
        <p:spPr>
          <a:xfrm>
            <a:off x="685800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960120" y="267138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685800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9" name="Text 12"/>
          <p:cNvSpPr txBox="1"/>
          <p:nvPr/>
        </p:nvSpPr>
        <p:spPr>
          <a:xfrm>
            <a:off x="960120" y="303714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40" name="Text 13"/>
          <p:cNvSpPr txBox="1"/>
          <p:nvPr/>
        </p:nvSpPr>
        <p:spPr>
          <a:xfrm>
            <a:off x="4800600" y="1159336"/>
            <a:ext cx="384048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AAAAAA"/>
                </a:solidFill>
              </a:defRPr>
            </a:lvl1pPr>
          </a:lstStyle>
          <a:p>
            <a:pPr/>
            <a:r>
              <a:t>Part II: Two-Phase Architecture</a:t>
            </a:r>
          </a:p>
        </p:txBody>
      </p:sp>
      <p:sp>
        <p:nvSpPr>
          <p:cNvPr id="41" name="Text 14"/>
          <p:cNvSpPr txBox="1"/>
          <p:nvPr/>
        </p:nvSpPr>
        <p:spPr>
          <a:xfrm>
            <a:off x="4983479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5257800" y="157410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Recap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4983479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4" name="Text 17"/>
          <p:cNvSpPr txBox="1"/>
          <p:nvPr/>
        </p:nvSpPr>
        <p:spPr>
          <a:xfrm>
            <a:off x="5257800" y="193986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45" name="Text 18"/>
          <p:cNvSpPr txBox="1"/>
          <p:nvPr/>
        </p:nvSpPr>
        <p:spPr>
          <a:xfrm>
            <a:off x="4983479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6" name="Text 19"/>
          <p:cNvSpPr txBox="1"/>
          <p:nvPr/>
        </p:nvSpPr>
        <p:spPr>
          <a:xfrm>
            <a:off x="5257800" y="230562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47" name="Text 20"/>
          <p:cNvSpPr txBox="1"/>
          <p:nvPr/>
        </p:nvSpPr>
        <p:spPr>
          <a:xfrm>
            <a:off x="4983479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8" name="Text 21"/>
          <p:cNvSpPr txBox="1"/>
          <p:nvPr/>
        </p:nvSpPr>
        <p:spPr>
          <a:xfrm>
            <a:off x="5257800" y="267138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49" name="Text 22"/>
          <p:cNvSpPr txBox="1"/>
          <p:nvPr/>
        </p:nvSpPr>
        <p:spPr>
          <a:xfrm>
            <a:off x="4983479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" name="Text 23"/>
          <p:cNvSpPr txBox="1"/>
          <p:nvPr/>
        </p:nvSpPr>
        <p:spPr>
          <a:xfrm>
            <a:off x="5257800" y="303714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Cross-Platform Deliverable</a:t>
            </a:r>
          </a:p>
        </p:txBody>
      </p:sp>
      <p:sp>
        <p:nvSpPr>
          <p:cNvPr id="51" name="Text 24"/>
          <p:cNvSpPr txBox="1"/>
          <p:nvPr/>
        </p:nvSpPr>
        <p:spPr>
          <a:xfrm>
            <a:off x="4983479" y="34029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2" name="Text 25"/>
          <p:cNvSpPr txBox="1"/>
          <p:nvPr/>
        </p:nvSpPr>
        <p:spPr>
          <a:xfrm>
            <a:off x="5257800" y="340290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Summary &amp;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The Problem We Solve</a:t>
            </a:r>
          </a:p>
        </p:txBody>
      </p:sp>
      <p:sp>
        <p:nvSpPr>
          <p:cNvPr id="57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"/>
          <p:cNvSpPr txBox="1"/>
          <p:nvPr/>
        </p:nvSpPr>
        <p:spPr>
          <a:xfrm>
            <a:off x="502919" y="103842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666666"/>
                </a:solidFill>
              </a:defRPr>
            </a:lvl1pPr>
          </a:lstStyle>
          <a:p>
            <a:pPr/>
            <a:r>
              <a:t>Traditional OpenCL Development Pain Points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594359" y="1475739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960119" y="148266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Writing 500+ lines of host code for each algorithm</a:t>
            </a:r>
          </a:p>
        </p:txBody>
      </p:sp>
      <p:sp>
        <p:nvSpPr>
          <p:cNvPr id="61" name="Text 5"/>
          <p:cNvSpPr txBox="1"/>
          <p:nvPr/>
        </p:nvSpPr>
        <p:spPr>
          <a:xfrm>
            <a:off x="594359" y="188722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960119" y="189414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Managing OpenCL contexts, queues, buffers manually</a:t>
            </a:r>
          </a:p>
        </p:txBody>
      </p:sp>
      <p:sp>
        <p:nvSpPr>
          <p:cNvPr id="63" name="Text 7"/>
          <p:cNvSpPr txBox="1"/>
          <p:nvPr/>
        </p:nvSpPr>
        <p:spPr>
          <a:xfrm>
            <a:off x="594359" y="229870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64" name="Text 8"/>
          <p:cNvSpPr txBox="1"/>
          <p:nvPr/>
        </p:nvSpPr>
        <p:spPr>
          <a:xfrm>
            <a:off x="960119" y="230562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Compiling kernels and handling errors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594359" y="271018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66" name="Text 10"/>
          <p:cNvSpPr txBox="1"/>
          <p:nvPr/>
        </p:nvSpPr>
        <p:spPr>
          <a:xfrm>
            <a:off x="960119" y="271710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Setting up arguments and work sizes</a:t>
            </a:r>
          </a:p>
        </p:txBody>
      </p:sp>
      <p:sp>
        <p:nvSpPr>
          <p:cNvPr id="67" name="Text 11"/>
          <p:cNvSpPr txBox="1"/>
          <p:nvPr/>
        </p:nvSpPr>
        <p:spPr>
          <a:xfrm>
            <a:off x="594359" y="3121659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68" name="Text 12"/>
          <p:cNvSpPr txBox="1"/>
          <p:nvPr/>
        </p:nvSpPr>
        <p:spPr>
          <a:xfrm>
            <a:off x="960119" y="312858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Verifying results against CPU reference</a:t>
            </a:r>
          </a:p>
        </p:txBody>
      </p:sp>
      <p:sp>
        <p:nvSpPr>
          <p:cNvPr id="69" name="Text 13"/>
          <p:cNvSpPr txBox="1"/>
          <p:nvPr/>
        </p:nvSpPr>
        <p:spPr>
          <a:xfrm>
            <a:off x="594359" y="353314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70" name="Text 14"/>
          <p:cNvSpPr txBox="1"/>
          <p:nvPr/>
        </p:nvSpPr>
        <p:spPr>
          <a:xfrm>
            <a:off x="960119" y="3540060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Repeating this for every kernel variant</a:t>
            </a:r>
          </a:p>
        </p:txBody>
      </p:sp>
      <p:sp>
        <p:nvSpPr>
          <p:cNvPr id="71" name="Shape 15"/>
          <p:cNvSpPr/>
          <p:nvPr/>
        </p:nvSpPr>
        <p:spPr>
          <a:xfrm>
            <a:off x="457200" y="4023359"/>
            <a:ext cx="8229600" cy="9144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6"/>
          <p:cNvSpPr txBox="1"/>
          <p:nvPr/>
        </p:nvSpPr>
        <p:spPr>
          <a:xfrm>
            <a:off x="685799" y="4314016"/>
            <a:ext cx="7772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Solution: This framework eliminates all the boilerplate!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78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0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problem: 500+ lines of boilerplate for each OpenCL algorithm</a:t>
            </a:r>
          </a:p>
        </p:txBody>
      </p:sp>
      <p:sp>
        <p:nvSpPr>
          <p:cNvPr id="81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2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solution: JSON-driven configuration, zero host code</a:t>
            </a:r>
          </a:p>
        </p:txBody>
      </p:sp>
      <p:sp>
        <p:nvSpPr>
          <p:cNvPr id="83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4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Six key benefits of the framework</a:t>
            </a:r>
          </a:p>
        </p:txBody>
      </p:sp>
      <p:sp>
        <p:nvSpPr>
          <p:cNvPr id="85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6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User journey: Build → Run → Learn</a:t>
            </a:r>
          </a:p>
        </p:txBody>
      </p:sp>
      <p:sp>
        <p:nvSpPr>
          <p:cNvPr id="87" name="Text 11"/>
          <p:cNvSpPr txBox="1"/>
          <p:nvPr/>
        </p:nvSpPr>
        <p:spPr>
          <a:xfrm>
            <a:off x="594359" y="353677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88" name="Text 12"/>
          <p:cNvSpPr txBox="1"/>
          <p:nvPr/>
        </p:nvSpPr>
        <p:spPr>
          <a:xfrm>
            <a:off x="960120" y="355302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High-level architecture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Framework Benefits</a:t>
            </a:r>
          </a:p>
        </p:txBody>
      </p:sp>
      <p:sp>
        <p:nvSpPr>
          <p:cNvPr id="93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2"/>
          <p:cNvSpPr/>
          <p:nvPr/>
        </p:nvSpPr>
        <p:spPr>
          <a:xfrm>
            <a:off x="457200" y="1097280"/>
            <a:ext cx="2651761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594359" y="1179830"/>
            <a:ext cx="27432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94359" y="1596960"/>
            <a:ext cx="23774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Zero Host Code</a:t>
            </a:r>
          </a:p>
        </p:txBody>
      </p:sp>
      <p:sp>
        <p:nvSpPr>
          <p:cNvPr id="97" name="Text 5"/>
          <p:cNvSpPr txBox="1"/>
          <p:nvPr/>
        </p:nvSpPr>
        <p:spPr>
          <a:xfrm>
            <a:off x="594359" y="197896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JSON-driven configuration</a:t>
            </a:r>
          </a:p>
        </p:txBody>
      </p:sp>
      <p:sp>
        <p:nvSpPr>
          <p:cNvPr id="98" name="Shape 6"/>
          <p:cNvSpPr/>
          <p:nvPr/>
        </p:nvSpPr>
        <p:spPr>
          <a:xfrm>
            <a:off x="3291840" y="1097280"/>
            <a:ext cx="2651761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7"/>
          <p:cNvSpPr txBox="1"/>
          <p:nvPr/>
        </p:nvSpPr>
        <p:spPr>
          <a:xfrm>
            <a:off x="3429000" y="1179830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0" name="Text 8"/>
          <p:cNvSpPr txBox="1"/>
          <p:nvPr/>
        </p:nvSpPr>
        <p:spPr>
          <a:xfrm>
            <a:off x="3429000" y="159696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Instant Comparison</a:t>
            </a:r>
          </a:p>
        </p:txBody>
      </p:sp>
      <p:sp>
        <p:nvSpPr>
          <p:cNvPr id="101" name="Text 9"/>
          <p:cNvSpPr txBox="1"/>
          <p:nvPr/>
        </p:nvSpPr>
        <p:spPr>
          <a:xfrm>
            <a:off x="3429000" y="197896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Run multiple variants</a:t>
            </a:r>
          </a:p>
        </p:txBody>
      </p:sp>
      <p:sp>
        <p:nvSpPr>
          <p:cNvPr id="102" name="Shape 10"/>
          <p:cNvSpPr/>
          <p:nvPr/>
        </p:nvSpPr>
        <p:spPr>
          <a:xfrm>
            <a:off x="6126479" y="1097280"/>
            <a:ext cx="2651761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1"/>
          <p:cNvSpPr txBox="1"/>
          <p:nvPr/>
        </p:nvSpPr>
        <p:spPr>
          <a:xfrm>
            <a:off x="6263640" y="1179830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4" name="Text 12"/>
          <p:cNvSpPr txBox="1"/>
          <p:nvPr/>
        </p:nvSpPr>
        <p:spPr>
          <a:xfrm>
            <a:off x="6263640" y="159696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Platform Switching</a:t>
            </a:r>
          </a:p>
        </p:txBody>
      </p:sp>
      <p:sp>
        <p:nvSpPr>
          <p:cNvPr id="105" name="Text 13"/>
          <p:cNvSpPr txBox="1"/>
          <p:nvPr/>
        </p:nvSpPr>
        <p:spPr>
          <a:xfrm>
            <a:off x="6263640" y="197896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Standard GPU vs CL Extension</a:t>
            </a:r>
          </a:p>
        </p:txBody>
      </p:sp>
      <p:sp>
        <p:nvSpPr>
          <p:cNvPr id="106" name="Shape 14"/>
          <p:cNvSpPr/>
          <p:nvPr/>
        </p:nvSpPr>
        <p:spPr>
          <a:xfrm>
            <a:off x="457200" y="2743200"/>
            <a:ext cx="2651761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5"/>
          <p:cNvSpPr txBox="1"/>
          <p:nvPr/>
        </p:nvSpPr>
        <p:spPr>
          <a:xfrm>
            <a:off x="594359" y="2825749"/>
            <a:ext cx="27432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8" name="Text 16"/>
          <p:cNvSpPr txBox="1"/>
          <p:nvPr/>
        </p:nvSpPr>
        <p:spPr>
          <a:xfrm>
            <a:off x="594359" y="3242880"/>
            <a:ext cx="23774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Auto-Verification</a:t>
            </a:r>
          </a:p>
        </p:txBody>
      </p:sp>
      <p:sp>
        <p:nvSpPr>
          <p:cNvPr id="109" name="Text 17"/>
          <p:cNvSpPr txBox="1"/>
          <p:nvPr/>
        </p:nvSpPr>
        <p:spPr>
          <a:xfrm>
            <a:off x="594359" y="362488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GPU output vs CPU reference</a:t>
            </a:r>
          </a:p>
        </p:txBody>
      </p:sp>
      <p:sp>
        <p:nvSpPr>
          <p:cNvPr id="110" name="Shape 18"/>
          <p:cNvSpPr/>
          <p:nvPr/>
        </p:nvSpPr>
        <p:spPr>
          <a:xfrm>
            <a:off x="3291840" y="2743200"/>
            <a:ext cx="2651761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9"/>
          <p:cNvSpPr txBox="1"/>
          <p:nvPr/>
        </p:nvSpPr>
        <p:spPr>
          <a:xfrm>
            <a:off x="3429000" y="28257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12" name="Text 20"/>
          <p:cNvSpPr txBox="1"/>
          <p:nvPr/>
        </p:nvSpPr>
        <p:spPr>
          <a:xfrm>
            <a:off x="3429000" y="324288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Binary Caching</a:t>
            </a:r>
          </a:p>
        </p:txBody>
      </p:sp>
      <p:sp>
        <p:nvSpPr>
          <p:cNvPr id="113" name="Text 21"/>
          <p:cNvSpPr txBox="1"/>
          <p:nvPr/>
        </p:nvSpPr>
        <p:spPr>
          <a:xfrm>
            <a:off x="3429000" y="362488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Fast re-runs with cached kernels</a:t>
            </a:r>
          </a:p>
        </p:txBody>
      </p:sp>
      <p:sp>
        <p:nvSpPr>
          <p:cNvPr id="114" name="Shape 22"/>
          <p:cNvSpPr/>
          <p:nvPr/>
        </p:nvSpPr>
        <p:spPr>
          <a:xfrm>
            <a:off x="6126479" y="2743200"/>
            <a:ext cx="2651761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3"/>
          <p:cNvSpPr txBox="1"/>
          <p:nvPr/>
        </p:nvSpPr>
        <p:spPr>
          <a:xfrm>
            <a:off x="6263640" y="28257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16" name="Text 24"/>
          <p:cNvSpPr txBox="1"/>
          <p:nvPr/>
        </p:nvSpPr>
        <p:spPr>
          <a:xfrm>
            <a:off x="6263640" y="324288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Easy Extension</a:t>
            </a:r>
          </a:p>
        </p:txBody>
      </p:sp>
      <p:sp>
        <p:nvSpPr>
          <p:cNvPr id="117" name="Text 25"/>
          <p:cNvSpPr txBox="1"/>
          <p:nvPr/>
        </p:nvSpPr>
        <p:spPr>
          <a:xfrm>
            <a:off x="6263640" y="362488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Add new algorithms with scaffold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User Journey: Build → Run → Learn</a:t>
            </a:r>
          </a:p>
        </p:txBody>
      </p:sp>
      <p:sp>
        <p:nvSpPr>
          <p:cNvPr id="122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3" name="image-6-1.pdf" descr="image-6-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6082" y="774413"/>
            <a:ext cx="7911836" cy="44504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High-Level Architecture</a:t>
            </a:r>
          </a:p>
        </p:txBody>
      </p:sp>
      <p:sp>
        <p:nvSpPr>
          <p:cNvPr id="128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image-7-1.pdf" descr="image-7-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8415" y="743287"/>
            <a:ext cx="7967170" cy="44815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135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7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6-step standard OpenCL host flow</a:t>
            </a:r>
          </a:p>
        </p:txBody>
      </p:sp>
      <p:sp>
        <p:nvSpPr>
          <p:cNvPr id="138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9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What the framework handles automatically</a:t>
            </a:r>
          </a:p>
        </p:txBody>
      </p:sp>
      <p:sp>
        <p:nvSpPr>
          <p:cNvPr id="140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41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Key timing: ~100ms compilation overhead</a:t>
            </a:r>
          </a:p>
        </p:txBody>
      </p:sp>
      <p:sp>
        <p:nvSpPr>
          <p:cNvPr id="142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Why this matters for iteration speed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Standard OpenCL Host Flow</a:t>
            </a:r>
          </a:p>
        </p:txBody>
      </p:sp>
      <p:sp>
        <p:nvSpPr>
          <p:cNvPr id="148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opencl_host_flow.svg" descr="opencl_host_flow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305" y="770318"/>
            <a:ext cx="8497390" cy="47797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155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7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Two platform types: Standard OpenCL and CL Extension</a:t>
            </a:r>
          </a:p>
        </p:txBody>
      </p:sp>
      <p:sp>
        <p:nvSpPr>
          <p:cNvPr id="158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Standard CL: Works on any GPU, great for development</a:t>
            </a:r>
          </a:p>
        </p:txBody>
      </p:sp>
      <p:sp>
        <p:nvSpPr>
          <p:cNvPr id="160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1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CL Extension: Vendor-optimized, maximum performance</a:t>
            </a:r>
          </a:p>
        </p:txBody>
      </p:sp>
      <p:sp>
        <p:nvSpPr>
          <p:cNvPr id="162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3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One-line config change to switch between them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Platform Branching</a:t>
            </a:r>
          </a:p>
        </p:txBody>
      </p:sp>
      <p:sp>
        <p:nvSpPr>
          <p:cNvPr id="168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platform_comparison_horizontal.svg" descr="platform_comparison_horizontal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3562" y="805683"/>
            <a:ext cx="8016876" cy="45094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Platform Configuration in JSON</a:t>
            </a:r>
          </a:p>
        </p:txBody>
      </p:sp>
      <p:sp>
        <p:nvSpPr>
          <p:cNvPr id="174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3"/>
          <p:cNvSpPr txBox="1"/>
          <p:nvPr/>
        </p:nvSpPr>
        <p:spPr>
          <a:xfrm>
            <a:off x="4617720" y="1038423"/>
            <a:ext cx="40233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Key Benefits</a:t>
            </a:r>
          </a:p>
        </p:txBody>
      </p:sp>
      <p:sp>
        <p:nvSpPr>
          <p:cNvPr id="176" name="Text 4"/>
          <p:cNvSpPr txBox="1"/>
          <p:nvPr/>
        </p:nvSpPr>
        <p:spPr>
          <a:xfrm>
            <a:off x="4617720" y="1377949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7" name="Text 5"/>
          <p:cNvSpPr txBox="1"/>
          <p:nvPr/>
        </p:nvSpPr>
        <p:spPr>
          <a:xfrm>
            <a:off x="4892040" y="1402519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Runtime platform selection</a:t>
            </a:r>
          </a:p>
        </p:txBody>
      </p:sp>
      <p:sp>
        <p:nvSpPr>
          <p:cNvPr id="178" name="Text 6"/>
          <p:cNvSpPr txBox="1"/>
          <p:nvPr/>
        </p:nvSpPr>
        <p:spPr>
          <a:xfrm>
            <a:off x="4617720" y="1725422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9" name="Text 7"/>
          <p:cNvSpPr txBox="1"/>
          <p:nvPr/>
        </p:nvSpPr>
        <p:spPr>
          <a:xfrm>
            <a:off x="4892040" y="1749991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No code changes required</a:t>
            </a:r>
          </a:p>
        </p:txBody>
      </p:sp>
      <p:sp>
        <p:nvSpPr>
          <p:cNvPr id="180" name="Text 8"/>
          <p:cNvSpPr txBox="1"/>
          <p:nvPr/>
        </p:nvSpPr>
        <p:spPr>
          <a:xfrm>
            <a:off x="4617720" y="2072894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1" name="Text 9"/>
          <p:cNvSpPr txBox="1"/>
          <p:nvPr/>
        </p:nvSpPr>
        <p:spPr>
          <a:xfrm>
            <a:off x="4892040" y="2097463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No rebuild needed</a:t>
            </a:r>
          </a:p>
        </p:txBody>
      </p:sp>
      <p:sp>
        <p:nvSpPr>
          <p:cNvPr id="182" name="Text 10"/>
          <p:cNvSpPr txBox="1"/>
          <p:nvPr/>
        </p:nvSpPr>
        <p:spPr>
          <a:xfrm>
            <a:off x="4617720" y="2420366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3" name="Text 11"/>
          <p:cNvSpPr txBox="1"/>
          <p:nvPr/>
        </p:nvSpPr>
        <p:spPr>
          <a:xfrm>
            <a:off x="4892040" y="2444935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Switch with one line change</a:t>
            </a:r>
          </a:p>
        </p:txBody>
      </p:sp>
      <p:sp>
        <p:nvSpPr>
          <p:cNvPr id="184" name="Text 12"/>
          <p:cNvSpPr txBox="1"/>
          <p:nvPr/>
        </p:nvSpPr>
        <p:spPr>
          <a:xfrm>
            <a:off x="4617720" y="2767838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" name="Text 13"/>
          <p:cNvSpPr txBox="1"/>
          <p:nvPr/>
        </p:nvSpPr>
        <p:spPr>
          <a:xfrm>
            <a:off x="4892040" y="2792407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Run both variants to compare</a:t>
            </a:r>
          </a:p>
        </p:txBody>
      </p:sp>
      <p:sp>
        <p:nvSpPr>
          <p:cNvPr id="186" name="Text 14"/>
          <p:cNvSpPr txBox="1"/>
          <p:nvPr/>
        </p:nvSpPr>
        <p:spPr>
          <a:xfrm>
            <a:off x="4617720" y="3115309"/>
            <a:ext cx="1828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" name="Text 15"/>
          <p:cNvSpPr txBox="1"/>
          <p:nvPr/>
        </p:nvSpPr>
        <p:spPr>
          <a:xfrm>
            <a:off x="4892040" y="3139878"/>
            <a:ext cx="37490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Same kernel.cl works on both</a:t>
            </a:r>
          </a:p>
        </p:txBody>
      </p:sp>
      <p:sp>
        <p:nvSpPr>
          <p:cNvPr id="188" name="Shape 16"/>
          <p:cNvSpPr/>
          <p:nvPr/>
        </p:nvSpPr>
        <p:spPr>
          <a:xfrm>
            <a:off x="274320" y="3840479"/>
            <a:ext cx="8595360" cy="9144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17"/>
          <p:cNvSpPr txBox="1"/>
          <p:nvPr/>
        </p:nvSpPr>
        <p:spPr>
          <a:xfrm>
            <a:off x="502919" y="414738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Easy to switch between Standard CL and CL Extension</a:t>
            </a:r>
          </a:p>
        </p:txBody>
      </p:sp>
      <p:pic>
        <p:nvPicPr>
          <p:cNvPr id="190" name="json_kernel_host_type.svg" descr="json_kernel_host_typ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048" y="993043"/>
            <a:ext cx="3490854" cy="29323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196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98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Binary caching eliminates repeated compilation</a:t>
            </a:r>
          </a:p>
        </p:txBody>
      </p:sp>
      <p:sp>
        <p:nvSpPr>
          <p:cNvPr id="199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0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Cache miss: First run compiles (~100ms), saves binary</a:t>
            </a:r>
          </a:p>
        </p:txBody>
      </p:sp>
      <p:sp>
        <p:nvSpPr>
          <p:cNvPr id="201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2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Cache hit: Load cached binary (~5ms) — 20x faster!</a:t>
            </a:r>
          </a:p>
        </p:txBody>
      </p:sp>
      <p:sp>
        <p:nvSpPr>
          <p:cNvPr id="203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4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Automatic invalidation when source changes (SHA256)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Binary Caching</a:t>
            </a:r>
          </a:p>
        </p:txBody>
      </p:sp>
      <p:sp>
        <p:nvSpPr>
          <p:cNvPr id="209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0" name="cache_mechanism.svg" descr="cache_mechanism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7190" y="752803"/>
            <a:ext cx="7789620" cy="4381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216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18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Configuration file structure in config/ directory</a:t>
            </a:r>
          </a:p>
        </p:txBody>
      </p:sp>
      <p:sp>
        <p:nvSpPr>
          <p:cNvPr id="219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0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Global inputs.json and algorithm-specific configs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2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Complete kernel configuration with all parameters</a:t>
            </a:r>
          </a:p>
        </p:txBody>
      </p:sp>
      <p:sp>
        <p:nvSpPr>
          <p:cNvPr id="223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4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Six supported argument types for any kernel pattern</a:t>
            </a:r>
          </a:p>
        </p:txBody>
      </p:sp>
      <p:pic>
        <p:nvPicPr>
          <p:cNvPr id="225" name="config_directory.svg" descr="config_directory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20803" y="3291840"/>
            <a:ext cx="4876118" cy="28312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Kernel Configuration</a:t>
            </a:r>
          </a:p>
        </p:txBody>
      </p:sp>
      <p:sp>
        <p:nvSpPr>
          <p:cNvPr id="230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1" name="json_config_full.svg" descr="json_config_full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4552" y="841822"/>
            <a:ext cx="6954896" cy="41729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Supported Argument Types</a:t>
            </a:r>
          </a:p>
        </p:txBody>
      </p:sp>
      <p:sp>
        <p:nvSpPr>
          <p:cNvPr id="236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37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4114800"/>
                <a:gridCol w="22860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Input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{"i_buffer": ["uchar", "src"]}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Read-only image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Output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{"o_buffer": ["uchar", "dst"]}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Write-only result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Parameter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{"param": ["int", "width"]}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Auto from image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Scalar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{"scalar": ["float", "sigma"]}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Custom value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Custom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{"buffer": ["float", "wts", 100]}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User-defined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Struct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{"struct": ["a", "b", "c"]}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Packed scalars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Part I Summary</a:t>
            </a:r>
          </a:p>
        </p:txBody>
      </p:sp>
      <p:sp>
        <p:nvSpPr>
          <p:cNvPr id="242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43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54864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Key Points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Introduction / Features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Zero host code, JSON-driven configuration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OpenCL Host Flow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6-step flow handled by framework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Platform Options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Standard CL vs CL Extension — one-line switch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Caching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Binary caching: 100ms → 5ms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Configuration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JSON-based kernel and I/O setup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4" name="Text 2"/>
          <p:cNvSpPr txBox="1"/>
          <p:nvPr/>
        </p:nvSpPr>
        <p:spPr>
          <a:xfrm>
            <a:off x="502919" y="391878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A9D1B"/>
                </a:solidFill>
              </a:defRPr>
            </a:lvl1pPr>
          </a:lstStyle>
          <a:p>
            <a:pPr/>
            <a:r>
              <a:t>Any questions before Part II?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49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2"/>
          <p:cNvSpPr txBox="1"/>
          <p:nvPr/>
        </p:nvSpPr>
        <p:spPr>
          <a:xfrm>
            <a:off x="502920" y="1159336"/>
            <a:ext cx="37490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AAAAAA"/>
                </a:solidFill>
              </a:defRPr>
            </a:lvl1pPr>
          </a:lstStyle>
          <a:p>
            <a:pPr/>
            <a:r>
              <a:t>Part I: OCLExample Introduction</a:t>
            </a:r>
          </a:p>
        </p:txBody>
      </p:sp>
      <p:sp>
        <p:nvSpPr>
          <p:cNvPr id="251" name="Text 3"/>
          <p:cNvSpPr txBox="1"/>
          <p:nvPr/>
        </p:nvSpPr>
        <p:spPr>
          <a:xfrm>
            <a:off x="685800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2" name="Text 4"/>
          <p:cNvSpPr txBox="1"/>
          <p:nvPr/>
        </p:nvSpPr>
        <p:spPr>
          <a:xfrm>
            <a:off x="960120" y="157410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253" name="Text 5"/>
          <p:cNvSpPr txBox="1"/>
          <p:nvPr/>
        </p:nvSpPr>
        <p:spPr>
          <a:xfrm>
            <a:off x="685800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960120" y="193986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255" name="Text 7"/>
          <p:cNvSpPr txBox="1"/>
          <p:nvPr/>
        </p:nvSpPr>
        <p:spPr>
          <a:xfrm>
            <a:off x="685800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6" name="Text 8"/>
          <p:cNvSpPr txBox="1"/>
          <p:nvPr/>
        </p:nvSpPr>
        <p:spPr>
          <a:xfrm>
            <a:off x="960120" y="230562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257" name="Text 9"/>
          <p:cNvSpPr txBox="1"/>
          <p:nvPr/>
        </p:nvSpPr>
        <p:spPr>
          <a:xfrm>
            <a:off x="685800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58" name="Text 10"/>
          <p:cNvSpPr txBox="1"/>
          <p:nvPr/>
        </p:nvSpPr>
        <p:spPr>
          <a:xfrm>
            <a:off x="960120" y="267138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259" name="Text 11"/>
          <p:cNvSpPr txBox="1"/>
          <p:nvPr/>
        </p:nvSpPr>
        <p:spPr>
          <a:xfrm>
            <a:off x="685800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0" name="Text 12"/>
          <p:cNvSpPr txBox="1"/>
          <p:nvPr/>
        </p:nvSpPr>
        <p:spPr>
          <a:xfrm>
            <a:off x="960120" y="303714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261" name="Text 13"/>
          <p:cNvSpPr txBox="1"/>
          <p:nvPr/>
        </p:nvSpPr>
        <p:spPr>
          <a:xfrm>
            <a:off x="4800600" y="1159336"/>
            <a:ext cx="384048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Part II: Two-Phase Architecture</a:t>
            </a:r>
          </a:p>
        </p:txBody>
      </p:sp>
      <p:sp>
        <p:nvSpPr>
          <p:cNvPr id="262" name="Text 14"/>
          <p:cNvSpPr txBox="1"/>
          <p:nvPr/>
        </p:nvSpPr>
        <p:spPr>
          <a:xfrm>
            <a:off x="4983479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3" name="Text 15"/>
          <p:cNvSpPr txBox="1"/>
          <p:nvPr/>
        </p:nvSpPr>
        <p:spPr>
          <a:xfrm>
            <a:off x="5257800" y="157410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Recap</a:t>
            </a:r>
          </a:p>
        </p:txBody>
      </p:sp>
      <p:sp>
        <p:nvSpPr>
          <p:cNvPr id="264" name="Text 16"/>
          <p:cNvSpPr txBox="1"/>
          <p:nvPr/>
        </p:nvSpPr>
        <p:spPr>
          <a:xfrm>
            <a:off x="4983479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5" name="Text 17"/>
          <p:cNvSpPr txBox="1"/>
          <p:nvPr/>
        </p:nvSpPr>
        <p:spPr>
          <a:xfrm>
            <a:off x="5257800" y="193986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266" name="Text 18"/>
          <p:cNvSpPr txBox="1"/>
          <p:nvPr/>
        </p:nvSpPr>
        <p:spPr>
          <a:xfrm>
            <a:off x="4983479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7" name="Text 19"/>
          <p:cNvSpPr txBox="1"/>
          <p:nvPr/>
        </p:nvSpPr>
        <p:spPr>
          <a:xfrm>
            <a:off x="5257800" y="230562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268" name="Text 20"/>
          <p:cNvSpPr txBox="1"/>
          <p:nvPr/>
        </p:nvSpPr>
        <p:spPr>
          <a:xfrm>
            <a:off x="4983479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9" name="Text 21"/>
          <p:cNvSpPr txBox="1"/>
          <p:nvPr/>
        </p:nvSpPr>
        <p:spPr>
          <a:xfrm>
            <a:off x="5257800" y="267138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270" name="Text 22"/>
          <p:cNvSpPr txBox="1"/>
          <p:nvPr/>
        </p:nvSpPr>
        <p:spPr>
          <a:xfrm>
            <a:off x="4983479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1" name="Text 23"/>
          <p:cNvSpPr txBox="1"/>
          <p:nvPr/>
        </p:nvSpPr>
        <p:spPr>
          <a:xfrm>
            <a:off x="5257800" y="303714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Cross-Platform Deliverable</a:t>
            </a:r>
          </a:p>
        </p:txBody>
      </p:sp>
      <p:sp>
        <p:nvSpPr>
          <p:cNvPr id="272" name="Text 24"/>
          <p:cNvSpPr txBox="1"/>
          <p:nvPr/>
        </p:nvSpPr>
        <p:spPr>
          <a:xfrm>
            <a:off x="4983479" y="34029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3" name="Text 25"/>
          <p:cNvSpPr txBox="1"/>
          <p:nvPr/>
        </p:nvSpPr>
        <p:spPr>
          <a:xfrm>
            <a:off x="5257800" y="3402900"/>
            <a:ext cx="33832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Summary &amp;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Part I Recap</a:t>
            </a:r>
          </a:p>
        </p:txBody>
      </p:sp>
      <p:sp>
        <p:nvSpPr>
          <p:cNvPr id="278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Shape 2"/>
          <p:cNvSpPr/>
          <p:nvPr/>
        </p:nvSpPr>
        <p:spPr>
          <a:xfrm>
            <a:off x="457199" y="1097280"/>
            <a:ext cx="4023361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3"/>
          <p:cNvSpPr txBox="1"/>
          <p:nvPr/>
        </p:nvSpPr>
        <p:spPr>
          <a:xfrm>
            <a:off x="685800" y="1322640"/>
            <a:ext cx="35661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Framework Benefits</a:t>
            </a:r>
          </a:p>
        </p:txBody>
      </p:sp>
      <p:sp>
        <p:nvSpPr>
          <p:cNvPr id="281" name="Text 4"/>
          <p:cNvSpPr txBox="1"/>
          <p:nvPr/>
        </p:nvSpPr>
        <p:spPr>
          <a:xfrm>
            <a:off x="685800" y="1704647"/>
            <a:ext cx="356616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Zero host code, JSON-driven</a:t>
            </a:r>
          </a:p>
        </p:txBody>
      </p:sp>
      <p:sp>
        <p:nvSpPr>
          <p:cNvPr id="282" name="Shape 5"/>
          <p:cNvSpPr/>
          <p:nvPr/>
        </p:nvSpPr>
        <p:spPr>
          <a:xfrm>
            <a:off x="4754879" y="1097280"/>
            <a:ext cx="40233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6"/>
          <p:cNvSpPr txBox="1"/>
          <p:nvPr/>
        </p:nvSpPr>
        <p:spPr>
          <a:xfrm>
            <a:off x="4983479" y="132264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User Journey</a:t>
            </a:r>
          </a:p>
        </p:txBody>
      </p:sp>
      <p:sp>
        <p:nvSpPr>
          <p:cNvPr id="284" name="Text 7"/>
          <p:cNvSpPr txBox="1"/>
          <p:nvPr/>
        </p:nvSpPr>
        <p:spPr>
          <a:xfrm>
            <a:off x="4983479" y="170464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Build → Run → Learn</a:t>
            </a:r>
          </a:p>
        </p:txBody>
      </p:sp>
      <p:sp>
        <p:nvSpPr>
          <p:cNvPr id="285" name="Shape 8"/>
          <p:cNvSpPr/>
          <p:nvPr/>
        </p:nvSpPr>
        <p:spPr>
          <a:xfrm>
            <a:off x="457199" y="2286000"/>
            <a:ext cx="4023361" cy="1005839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9"/>
          <p:cNvSpPr txBox="1"/>
          <p:nvPr/>
        </p:nvSpPr>
        <p:spPr>
          <a:xfrm>
            <a:off x="685800" y="2511360"/>
            <a:ext cx="35661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Platform Options</a:t>
            </a:r>
          </a:p>
        </p:txBody>
      </p:sp>
      <p:sp>
        <p:nvSpPr>
          <p:cNvPr id="287" name="Text 10"/>
          <p:cNvSpPr txBox="1"/>
          <p:nvPr/>
        </p:nvSpPr>
        <p:spPr>
          <a:xfrm>
            <a:off x="685800" y="2893367"/>
            <a:ext cx="356616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288" name="Shape 11"/>
          <p:cNvSpPr/>
          <p:nvPr/>
        </p:nvSpPr>
        <p:spPr>
          <a:xfrm>
            <a:off x="4754879" y="2286000"/>
            <a:ext cx="4023360" cy="1005839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12"/>
          <p:cNvSpPr txBox="1"/>
          <p:nvPr/>
        </p:nvSpPr>
        <p:spPr>
          <a:xfrm>
            <a:off x="4983479" y="251136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290" name="Text 13"/>
          <p:cNvSpPr txBox="1"/>
          <p:nvPr/>
        </p:nvSpPr>
        <p:spPr>
          <a:xfrm>
            <a:off x="4983479" y="289336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Kernel config, I/O setup</a:t>
            </a:r>
          </a:p>
        </p:txBody>
      </p:sp>
      <p:sp>
        <p:nvSpPr>
          <p:cNvPr id="291" name="Shape 14"/>
          <p:cNvSpPr/>
          <p:nvPr/>
        </p:nvSpPr>
        <p:spPr>
          <a:xfrm>
            <a:off x="457200" y="3657600"/>
            <a:ext cx="8229600" cy="109728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15"/>
          <p:cNvSpPr txBox="1"/>
          <p:nvPr/>
        </p:nvSpPr>
        <p:spPr>
          <a:xfrm>
            <a:off x="685799" y="4039696"/>
            <a:ext cx="7772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Now: How we split the host into two phases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297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2"/>
          <p:cNvSpPr txBox="1"/>
          <p:nvPr/>
        </p:nvSpPr>
        <p:spPr>
          <a:xfrm>
            <a:off x="594359" y="124459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299" name="Text 3"/>
          <p:cNvSpPr txBox="1"/>
          <p:nvPr/>
        </p:nvSpPr>
        <p:spPr>
          <a:xfrm>
            <a:off x="960119" y="1267023"/>
            <a:ext cx="7223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Every run recompiles kernel (~100ms overhead)</a:t>
            </a:r>
          </a:p>
        </p:txBody>
      </p:sp>
      <p:sp>
        <p:nvSpPr>
          <p:cNvPr id="300" name="Text 4"/>
          <p:cNvSpPr txBox="1"/>
          <p:nvPr/>
        </p:nvSpPr>
        <p:spPr>
          <a:xfrm>
            <a:off x="594359" y="1793240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01" name="Text 5"/>
          <p:cNvSpPr txBox="1"/>
          <p:nvPr/>
        </p:nvSpPr>
        <p:spPr>
          <a:xfrm>
            <a:off x="960119" y="1815663"/>
            <a:ext cx="7223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Source code must be present on target</a:t>
            </a:r>
          </a:p>
        </p:txBody>
      </p:sp>
      <p:sp>
        <p:nvSpPr>
          <p:cNvPr id="302" name="Text 6"/>
          <p:cNvSpPr txBox="1"/>
          <p:nvPr/>
        </p:nvSpPr>
        <p:spPr>
          <a:xfrm>
            <a:off x="594359" y="234187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03" name="Text 7"/>
          <p:cNvSpPr txBox="1"/>
          <p:nvPr/>
        </p:nvSpPr>
        <p:spPr>
          <a:xfrm>
            <a:off x="960119" y="2364303"/>
            <a:ext cx="7223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Can't pre-compile for different devices</a:t>
            </a:r>
          </a:p>
        </p:txBody>
      </p:sp>
      <p:sp>
        <p:nvSpPr>
          <p:cNvPr id="304" name="Text 8"/>
          <p:cNvSpPr txBox="1"/>
          <p:nvPr/>
        </p:nvSpPr>
        <p:spPr>
          <a:xfrm>
            <a:off x="594359" y="289051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05" name="Text 9"/>
          <p:cNvSpPr txBox="1"/>
          <p:nvPr/>
        </p:nvSpPr>
        <p:spPr>
          <a:xfrm>
            <a:off x="960119" y="2912943"/>
            <a:ext cx="7223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No binary distribution possible</a:t>
            </a:r>
          </a:p>
        </p:txBody>
      </p:sp>
      <p:sp>
        <p:nvSpPr>
          <p:cNvPr id="306" name="Shape 10"/>
          <p:cNvSpPr/>
          <p:nvPr/>
        </p:nvSpPr>
        <p:spPr>
          <a:xfrm>
            <a:off x="457200" y="3657600"/>
            <a:ext cx="8229600" cy="109728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11"/>
          <p:cNvSpPr txBox="1"/>
          <p:nvPr/>
        </p:nvSpPr>
        <p:spPr>
          <a:xfrm>
            <a:off x="685799" y="4039696"/>
            <a:ext cx="77724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Solution: Split into Compilation + Execution phases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Two-Phase Architecture</a:t>
            </a:r>
          </a:p>
        </p:txBody>
      </p:sp>
      <p:sp>
        <p:nvSpPr>
          <p:cNvPr id="312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3" name="two_phase_architecture.svg" descr="two_phase_architectur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542" y="781538"/>
            <a:ext cx="7834916" cy="44071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800">
                <a:solidFill>
                  <a:srgbClr val="333333"/>
                </a:solidFill>
              </a:defRPr>
            </a:pPr>
            <a:r>
              <a:t>Compilation Phase </a:t>
            </a:r>
            <a:r>
              <a:rPr>
                <a:solidFill>
                  <a:srgbClr val="FF2600"/>
                </a:solidFill>
              </a:rPr>
              <a:t>(WIP)</a:t>
            </a:r>
          </a:p>
        </p:txBody>
      </p:sp>
      <p:sp>
        <p:nvSpPr>
          <p:cNvPr id="319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21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Runs once on Linux development machine</a:t>
            </a:r>
          </a:p>
        </p:txBody>
      </p:sp>
      <p:sp>
        <p:nvSpPr>
          <p:cNvPr id="322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23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Input: kernel.cl source + config.json</a:t>
            </a:r>
          </a:p>
        </p:txBody>
      </p:sp>
      <p:sp>
        <p:nvSpPr>
          <p:cNvPr id="324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25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Output: kernel.bin (compiled) + gpu_host (executor) OR mvpu_host (executor)</a:t>
            </a:r>
          </a:p>
        </p:txBody>
      </p:sp>
      <p:sp>
        <p:nvSpPr>
          <p:cNvPr id="326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27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2600"/>
                </a:solidFill>
              </a:defRPr>
            </a:lvl1pPr>
          </a:lstStyle>
          <a:p>
            <a:pPr/>
            <a:r>
              <a:t>kernel.bin includes metadata for target device (how about batch binary ?!)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800">
                <a:solidFill>
                  <a:srgbClr val="333333"/>
                </a:solidFill>
              </a:defRPr>
            </a:pPr>
            <a:r>
              <a:t>Compilation Phase </a:t>
            </a:r>
            <a:r>
              <a:rPr>
                <a:solidFill>
                  <a:srgbClr val="FF2600"/>
                </a:solidFill>
              </a:rPr>
              <a:t>(WIP)</a:t>
            </a:r>
          </a:p>
        </p:txBody>
      </p:sp>
      <p:sp>
        <p:nvSpPr>
          <p:cNvPr id="332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2"/>
          <p:cNvSpPr txBox="1"/>
          <p:nvPr/>
        </p:nvSpPr>
        <p:spPr>
          <a:xfrm>
            <a:off x="502919" y="1048320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Purpose: Convert source + config into deliverable-ready binaries</a:t>
            </a:r>
          </a:p>
        </p:txBody>
      </p:sp>
      <p:sp>
        <p:nvSpPr>
          <p:cNvPr id="334" name="Shape 3"/>
          <p:cNvSpPr/>
          <p:nvPr/>
        </p:nvSpPr>
        <p:spPr>
          <a:xfrm>
            <a:off x="457199" y="1463039"/>
            <a:ext cx="3931922" cy="164592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4"/>
          <p:cNvSpPr txBox="1"/>
          <p:nvPr/>
        </p:nvSpPr>
        <p:spPr>
          <a:xfrm>
            <a:off x="685800" y="1596960"/>
            <a:ext cx="347471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336" name="Text 5"/>
          <p:cNvSpPr txBox="1"/>
          <p:nvPr/>
        </p:nvSpPr>
        <p:spPr>
          <a:xfrm>
            <a:off x="685800" y="2249477"/>
            <a:ext cx="3474719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kernel.cl — Source code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config.json — Configuration</a:t>
            </a:r>
          </a:p>
        </p:txBody>
      </p:sp>
      <p:sp>
        <p:nvSpPr>
          <p:cNvPr id="337" name="Shape 6"/>
          <p:cNvSpPr/>
          <p:nvPr/>
        </p:nvSpPr>
        <p:spPr>
          <a:xfrm>
            <a:off x="4754879" y="1463039"/>
            <a:ext cx="3931921" cy="164592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7"/>
          <p:cNvSpPr txBox="1"/>
          <p:nvPr/>
        </p:nvSpPr>
        <p:spPr>
          <a:xfrm>
            <a:off x="4983479" y="1596960"/>
            <a:ext cx="34747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Outputs</a:t>
            </a:r>
          </a:p>
        </p:txBody>
      </p:sp>
      <p:sp>
        <p:nvSpPr>
          <p:cNvPr id="339" name="Text 8"/>
          <p:cNvSpPr txBox="1"/>
          <p:nvPr/>
        </p:nvSpPr>
        <p:spPr>
          <a:xfrm>
            <a:off x="4983479" y="2058977"/>
            <a:ext cx="3474720" cy="819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kernel.bin — Compiled binary</a:t>
            </a:r>
          </a:p>
          <a:p>
            <a:pPr marL="120315" indent="-120315">
              <a:buSzPct val="100000"/>
              <a:buChar char="•"/>
              <a:defRPr sz="1200">
                <a:solidFill>
                  <a:srgbClr val="333333"/>
                </a:solidFill>
              </a:defRPr>
            </a:pPr>
            <a:r>
              <a:t>gpu_host — Linux executable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mvpu_host (Player)  — Linux executable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mvpu_host (Player) — Android executable</a:t>
            </a:r>
          </a:p>
        </p:txBody>
      </p:sp>
      <p:sp>
        <p:nvSpPr>
          <p:cNvPr id="340" name="Text 9"/>
          <p:cNvSpPr txBox="1"/>
          <p:nvPr/>
        </p:nvSpPr>
        <p:spPr>
          <a:xfrm>
            <a:off x="502919" y="3425760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kernel.bin contains:</a:t>
            </a:r>
          </a:p>
        </p:txBody>
      </p:sp>
      <p:sp>
        <p:nvSpPr>
          <p:cNvPr id="341" name="Text 10"/>
          <p:cNvSpPr txBox="1"/>
          <p:nvPr/>
        </p:nvSpPr>
        <p:spPr>
          <a:xfrm>
            <a:off x="502919" y="3983027"/>
            <a:ext cx="813816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Compiled kernel binary (device-specific)</a:t>
            </a:r>
          </a:p>
          <a:p>
            <a:pPr>
              <a:defRPr sz="1200">
                <a:solidFill>
                  <a:srgbClr val="FF2600"/>
                </a:solidFill>
              </a:defRPr>
            </a:pPr>
            <a:r>
              <a:t>• Metadata (device name, OpenCL version)</a:t>
            </a:r>
          </a:p>
          <a:p>
            <a:pPr>
              <a:defRPr sz="1200">
                <a:solidFill>
                  <a:srgbClr val="FF2600"/>
                </a:solidFill>
              </a:defRPr>
            </a:pPr>
            <a:r>
              <a:t>• Compile options used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800">
                <a:solidFill>
                  <a:srgbClr val="333333"/>
                </a:solidFill>
              </a:defRPr>
            </a:pPr>
            <a:r>
              <a:t>Execution Phase </a:t>
            </a:r>
            <a:r>
              <a:rPr>
                <a:solidFill>
                  <a:srgbClr val="FF2600"/>
                </a:solidFill>
              </a:rPr>
              <a:t>(WIP)</a:t>
            </a:r>
          </a:p>
        </p:txBody>
      </p:sp>
      <p:sp>
        <p:nvSpPr>
          <p:cNvPr id="347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9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Runs many times on target device (Linux/Android)</a:t>
            </a:r>
          </a:p>
        </p:txBody>
      </p:sp>
      <p:sp>
        <p:nvSpPr>
          <p:cNvPr id="350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51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Input: kernel.bin (pre-compiled) + config + data</a:t>
            </a:r>
          </a:p>
        </p:txBody>
      </p:sp>
      <p:sp>
        <p:nvSpPr>
          <p:cNvPr id="352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53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Uses clCreateProgramWithBinary() — no compilation!</a:t>
            </a:r>
          </a:p>
        </p:txBody>
      </p:sp>
      <p:sp>
        <p:nvSpPr>
          <p:cNvPr id="354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55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Performance: ~5ms vs ~105ms — 20x faster startup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800">
                <a:solidFill>
                  <a:srgbClr val="333333"/>
                </a:solidFill>
              </a:defRPr>
            </a:pPr>
            <a:r>
              <a:t>Execution Phase </a:t>
            </a:r>
            <a:r>
              <a:rPr>
                <a:solidFill>
                  <a:srgbClr val="FF2600"/>
                </a:solidFill>
              </a:rPr>
              <a:t>(WIP)</a:t>
            </a:r>
          </a:p>
        </p:txBody>
      </p:sp>
      <p:sp>
        <p:nvSpPr>
          <p:cNvPr id="360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2"/>
          <p:cNvSpPr txBox="1"/>
          <p:nvPr/>
        </p:nvSpPr>
        <p:spPr>
          <a:xfrm>
            <a:off x="502919" y="1048320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Purpose: Run kernel without compilation overhead</a:t>
            </a:r>
          </a:p>
        </p:txBody>
      </p:sp>
      <p:sp>
        <p:nvSpPr>
          <p:cNvPr id="362" name="Shape 3"/>
          <p:cNvSpPr/>
          <p:nvPr/>
        </p:nvSpPr>
        <p:spPr>
          <a:xfrm>
            <a:off x="457199" y="1463039"/>
            <a:ext cx="3931922" cy="164592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4"/>
          <p:cNvSpPr txBox="1"/>
          <p:nvPr/>
        </p:nvSpPr>
        <p:spPr>
          <a:xfrm>
            <a:off x="685800" y="1596960"/>
            <a:ext cx="347471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364" name="Text 5"/>
          <p:cNvSpPr txBox="1"/>
          <p:nvPr/>
        </p:nvSpPr>
        <p:spPr>
          <a:xfrm>
            <a:off x="685800" y="2154227"/>
            <a:ext cx="3474719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kernel.bin — Pre-compiled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config.json — Runtime config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Input data</a:t>
            </a:r>
          </a:p>
        </p:txBody>
      </p:sp>
      <p:sp>
        <p:nvSpPr>
          <p:cNvPr id="365" name="Shape 6"/>
          <p:cNvSpPr/>
          <p:nvPr/>
        </p:nvSpPr>
        <p:spPr>
          <a:xfrm>
            <a:off x="4754879" y="1463039"/>
            <a:ext cx="3931921" cy="164592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7"/>
          <p:cNvSpPr txBox="1"/>
          <p:nvPr/>
        </p:nvSpPr>
        <p:spPr>
          <a:xfrm>
            <a:off x="4983479" y="1596960"/>
            <a:ext cx="34747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67" name="Text 8"/>
          <p:cNvSpPr txBox="1"/>
          <p:nvPr/>
        </p:nvSpPr>
        <p:spPr>
          <a:xfrm>
            <a:off x="4983479" y="2154227"/>
            <a:ext cx="3474720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result.bin — Processed output</a:t>
            </a:r>
          </a:p>
          <a:p>
            <a:pPr>
              <a:defRPr sz="1200"/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Using clCreateProgramWithBinary()</a:t>
            </a:r>
          </a:p>
        </p:txBody>
      </p:sp>
      <p:sp>
        <p:nvSpPr>
          <p:cNvPr id="368" name="Shape 9"/>
          <p:cNvSpPr/>
          <p:nvPr/>
        </p:nvSpPr>
        <p:spPr>
          <a:xfrm>
            <a:off x="457200" y="3383279"/>
            <a:ext cx="8229600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10"/>
          <p:cNvSpPr txBox="1"/>
          <p:nvPr/>
        </p:nvSpPr>
        <p:spPr>
          <a:xfrm>
            <a:off x="685799" y="3716109"/>
            <a:ext cx="77724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333333"/>
                </a:solidFill>
              </a:defRPr>
            </a:lvl1pPr>
          </a:lstStyle>
          <a:p>
            <a:pPr/>
            <a:r>
              <a:t>Performance: ~5ms vs ~105ms (with compilation)</a:t>
            </a:r>
          </a:p>
        </p:txBody>
      </p:sp>
      <p:sp>
        <p:nvSpPr>
          <p:cNvPr id="370" name="Text 11"/>
          <p:cNvSpPr txBox="1"/>
          <p:nvPr/>
        </p:nvSpPr>
        <p:spPr>
          <a:xfrm>
            <a:off x="685799" y="4157280"/>
            <a:ext cx="77724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Loading pre-compiled binary eliminates 100ms compilation overhead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1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Cross-Platform Deliverable</a:t>
            </a:r>
          </a:p>
        </p:txBody>
      </p:sp>
      <p:sp>
        <p:nvSpPr>
          <p:cNvPr id="376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Text 3"/>
          <p:cNvSpPr txBox="1"/>
          <p:nvPr/>
        </p:nvSpPr>
        <p:spPr>
          <a:xfrm>
            <a:off x="594359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8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Develop and compile on Linux (full toolchain)</a:t>
            </a:r>
          </a:p>
        </p:txBody>
      </p:sp>
      <p:sp>
        <p:nvSpPr>
          <p:cNvPr id="379" name="Text 5"/>
          <p:cNvSpPr txBox="1"/>
          <p:nvPr/>
        </p:nvSpPr>
        <p:spPr>
          <a:xfrm>
            <a:off x="594359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80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Deploy to Linux (GPU/MVPU) OR Android (MVPU) devices</a:t>
            </a:r>
          </a:p>
        </p:txBody>
      </p:sp>
      <p:sp>
        <p:nvSpPr>
          <p:cNvPr id="381" name="Text 7"/>
          <p:cNvSpPr txBox="1"/>
          <p:nvPr/>
        </p:nvSpPr>
        <p:spPr>
          <a:xfrm>
            <a:off x="594359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82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Only 3 types of files: opencl_host(s) + kernel.bin + config.json</a:t>
            </a:r>
          </a:p>
        </p:txBody>
      </p:sp>
      <p:sp>
        <p:nvSpPr>
          <p:cNvPr id="383" name="Text 9"/>
          <p:cNvSpPr txBox="1"/>
          <p:nvPr/>
        </p:nvSpPr>
        <p:spPr>
          <a:xfrm>
            <a:off x="594359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84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Deliver offline compiler: No host source code, headers are needed on target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 txBox="1"/>
          <p:nvPr/>
        </p:nvSpPr>
        <p:spPr>
          <a:xfrm>
            <a:off x="502919" y="30668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Cross-Platform Deliverable</a:t>
            </a:r>
          </a:p>
        </p:txBody>
      </p:sp>
      <p:sp>
        <p:nvSpPr>
          <p:cNvPr id="389" name="Shape 1"/>
          <p:cNvSpPr/>
          <p:nvPr/>
        </p:nvSpPr>
        <p:spPr>
          <a:xfrm>
            <a:off x="457200" y="68580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0" name="deployment_package.svg" descr="deployment_packag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2136" y="747277"/>
            <a:ext cx="8419728" cy="42098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What to Deliver</a:t>
            </a:r>
          </a:p>
        </p:txBody>
      </p:sp>
      <p:sp>
        <p:nvSpPr>
          <p:cNvPr id="395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2"/>
          <p:cNvSpPr txBox="1"/>
          <p:nvPr/>
        </p:nvSpPr>
        <p:spPr>
          <a:xfrm>
            <a:off x="502919" y="113976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Execution Package:</a:t>
            </a:r>
          </a:p>
        </p:txBody>
      </p:sp>
      <p:sp>
        <p:nvSpPr>
          <p:cNvPr id="397" name="Text 4"/>
          <p:cNvSpPr txBox="1"/>
          <p:nvPr/>
        </p:nvSpPr>
        <p:spPr>
          <a:xfrm>
            <a:off x="4800600" y="1139760"/>
            <a:ext cx="384048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NOT required in execution:</a:t>
            </a:r>
          </a:p>
        </p:txBody>
      </p:sp>
      <p:sp>
        <p:nvSpPr>
          <p:cNvPr id="398" name="Text 5"/>
          <p:cNvSpPr txBox="1"/>
          <p:nvPr/>
        </p:nvSpPr>
        <p:spPr>
          <a:xfrm>
            <a:off x="4800600" y="1495558"/>
            <a:ext cx="3840480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kernel.cl (source code)</a:t>
            </a:r>
          </a:p>
        </p:txBody>
      </p:sp>
      <p:sp>
        <p:nvSpPr>
          <p:cNvPr id="399" name="Text 6"/>
          <p:cNvSpPr txBox="1"/>
          <p:nvPr/>
        </p:nvSpPr>
        <p:spPr>
          <a:xfrm>
            <a:off x="4800600" y="1861319"/>
            <a:ext cx="3840480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include/ (headers)</a:t>
            </a:r>
          </a:p>
        </p:txBody>
      </p:sp>
      <p:sp>
        <p:nvSpPr>
          <p:cNvPr id="400" name="Text 7"/>
          <p:cNvSpPr txBox="1"/>
          <p:nvPr/>
        </p:nvSpPr>
        <p:spPr>
          <a:xfrm>
            <a:off x="4800600" y="2227079"/>
            <a:ext cx="3840480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Host code build tools</a:t>
            </a:r>
          </a:p>
        </p:txBody>
      </p:sp>
      <p:sp>
        <p:nvSpPr>
          <p:cNvPr id="401" name="Text 8"/>
          <p:cNvSpPr txBox="1"/>
          <p:nvPr/>
        </p:nvSpPr>
        <p:spPr>
          <a:xfrm>
            <a:off x="4800600" y="2592839"/>
            <a:ext cx="3840480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Host code development dependencies</a:t>
            </a:r>
          </a:p>
        </p:txBody>
      </p:sp>
      <p:sp>
        <p:nvSpPr>
          <p:cNvPr id="402" name="Shape 9"/>
          <p:cNvSpPr/>
          <p:nvPr/>
        </p:nvSpPr>
        <p:spPr>
          <a:xfrm>
            <a:off x="457200" y="3657600"/>
            <a:ext cx="8229600" cy="109728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10"/>
          <p:cNvSpPr txBox="1"/>
          <p:nvPr/>
        </p:nvSpPr>
        <p:spPr>
          <a:xfrm>
            <a:off x="685799" y="4101663"/>
            <a:ext cx="77724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Benefits: Smaller footprint • No source exposure • Faster startup</a:t>
            </a:r>
          </a:p>
        </p:txBody>
      </p:sp>
      <p:pic>
        <p:nvPicPr>
          <p:cNvPr id="404" name="11_production_package.svg" descr="11_production_packag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1791" y="1428889"/>
            <a:ext cx="4375995" cy="18513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 txBox="1"/>
          <p:nvPr/>
        </p:nvSpPr>
        <p:spPr>
          <a:xfrm>
            <a:off x="502919" y="32626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409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410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828800"/>
                <a:gridCol w="2103120"/>
                <a:gridCol w="2286000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Compilation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Once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Linux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kernel.bin + opencl_host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Execution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Many times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Linux/Android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result.bin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1" name="Text 2"/>
          <p:cNvSpPr txBox="1"/>
          <p:nvPr/>
        </p:nvSpPr>
        <p:spPr>
          <a:xfrm>
            <a:off x="502919" y="2328480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Key Benefits:</a:t>
            </a:r>
          </a:p>
        </p:txBody>
      </p:sp>
      <p:sp>
        <p:nvSpPr>
          <p:cNvPr id="412" name="Text 3"/>
          <p:cNvSpPr txBox="1"/>
          <p:nvPr/>
        </p:nvSpPr>
        <p:spPr>
          <a:xfrm>
            <a:off x="594360" y="266123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Zero compile time after first run</a:t>
            </a:r>
          </a:p>
        </p:txBody>
      </p:sp>
      <p:sp>
        <p:nvSpPr>
          <p:cNvPr id="413" name="Text 4"/>
          <p:cNvSpPr txBox="1"/>
          <p:nvPr/>
        </p:nvSpPr>
        <p:spPr>
          <a:xfrm>
            <a:off x="594360" y="302699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Binary-only deliverable</a:t>
            </a:r>
          </a:p>
        </p:txBody>
      </p:sp>
      <p:sp>
        <p:nvSpPr>
          <p:cNvPr id="414" name="Text 5"/>
          <p:cNvSpPr txBox="1"/>
          <p:nvPr/>
        </p:nvSpPr>
        <p:spPr>
          <a:xfrm>
            <a:off x="594360" y="339275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Cross-platform support (GPU + MVPU)</a:t>
            </a:r>
          </a:p>
        </p:txBody>
      </p:sp>
      <p:sp>
        <p:nvSpPr>
          <p:cNvPr id="415" name="Text 6"/>
          <p:cNvSpPr txBox="1"/>
          <p:nvPr/>
        </p:nvSpPr>
        <p:spPr>
          <a:xfrm>
            <a:off x="594360" y="375851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Smaller execution footprint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Shape 1"/>
          <p:cNvSpPr/>
          <p:nvPr/>
        </p:nvSpPr>
        <p:spPr>
          <a:xfrm>
            <a:off x="457200" y="1645920"/>
            <a:ext cx="8229600" cy="228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Text 2"/>
          <p:cNvSpPr txBox="1"/>
          <p:nvPr/>
        </p:nvSpPr>
        <p:spPr>
          <a:xfrm>
            <a:off x="502919" y="1959044"/>
            <a:ext cx="81381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400">
                <a:solidFill>
                  <a:srgbClr val="333333"/>
                </a:solidFill>
              </a:defRPr>
            </a:lvl1pPr>
          </a:lstStyle>
          <a:p>
            <a:pPr/>
            <a:r>
              <a:t>Questions &amp; Discussion</a:t>
            </a:r>
          </a:p>
        </p:txBody>
      </p:sp>
      <p:sp>
        <p:nvSpPr>
          <p:cNvPr id="422" name="Text 3"/>
          <p:cNvSpPr txBox="1"/>
          <p:nvPr/>
        </p:nvSpPr>
        <p:spPr>
          <a:xfrm>
            <a:off x="502919" y="3004165"/>
            <a:ext cx="81381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FA9D1B"/>
                </a:solidFill>
              </a:defRPr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